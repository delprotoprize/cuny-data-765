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92000" cy="6858000"/>
  <p:notesSz cx="6858000" cy="9144000"/>
  <p:defaultTextStyle>
    <a:defPPr>
      <a:defRPr lang="en-US"/>
    </a:defPPr>
    <a:lvl1pPr marL="0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45719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CA2C0F-70DD-6FDF-165C-E3D69A93F5A3}" name="Yinxian Zhang" initials="YZ" userId="S::YINXIAN.ZHANG48@login.cuny.edu::6e5d5777-4e08-4bd8-a63a-60f3eec90bfb" providerId="AD"/>
  <p188:author id="{F081DC9D-7743-2A5B-8A7F-DD39872A0C73}" name="Fariha Hossain" initials="FH" userId="S::fariha.hossain74@login.cuny.edu::cafe1106-fac0-45ef-818a-2b89c26f305a" providerId="AD"/>
  <p188:author id="{787651F0-620B-DF74-0BBA-5D261649E1D5}" name="Fariha Hossain" initials="" userId="S::Fariha.Hossain74@login.cuny.edu::cafe1106-fac0-45ef-818a-2b89c26f30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0578"/>
    <a:srgbClr val="D27810"/>
    <a:srgbClr val="CC7516"/>
    <a:srgbClr val="FC8F14"/>
    <a:srgbClr val="0C7838"/>
    <a:srgbClr val="470665"/>
    <a:srgbClr val="AF00F7"/>
    <a:srgbClr val="ADC8DD"/>
    <a:srgbClr val="EABAA5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924A8D-7452-CDBB-2FDB-B10735EB0B62}" v="136" dt="2026-10-07T15:12:32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78" autoAdjust="0"/>
    <p:restoredTop sz="94196" autoAdjust="0"/>
  </p:normalViewPr>
  <p:slideViewPr>
    <p:cSldViewPr snapToGrid="0">
      <p:cViewPr varScale="1">
        <p:scale>
          <a:sx n="109" d="100"/>
          <a:sy n="10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5/10/relationships/revisionInfo" Target="revisionInfo.xml"/><Relationship Id="rId6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30D3F-55E8-4AC3-B16A-7B1677A9F4C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F0441-A68F-42EA-9918-AA2C4CFB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output and trace one cell aloud: row = ideology, column = gun law attitude. Ask: how many conservatives oppose gun control? (52). How many moderates favor it? (355).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 (confirm with professor): libconsv = ORDINAL (liberal → moderate → conservative has a natural left-to-right order). gunlaw = NOMINAL (favor/oppose are named categories with no low/high end). Common mix-up: students call libconsv nominal because it has words, not numbers. Remind them: ordinal is still categorical.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X = libconsv (ideological stance), Y = gunlaw (attitude toward gun control). Ideology is the broader worldview that comes first and shapes specific policy opinions.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1000 − 458 moderates = 542 (256 conservatives + 286 liberals). Ask students why the number of rows went down but the number of columns did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add across a row in the margin=1 table and down a column in the margin=2 table to see 1.00 each time. This is the single most useful self-check for Q3 and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libconsv is the first argument, so it is in the ROWS. Use ROW percentages (margin = 1). Each ideology group (all liberals, all conservatives) should add up to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row-proportion output: liberals 0.944 → 94.4% favor; conservatives 0.797 → 79.7% favor. 14.7 falls in the 10–30 band, so 'moderate' by the lecture rule of thumb. Comparing 'Oppose' gives the same gap (20.3 − 5.6 = 14.7). Subtract the two 'favor' percentages to get the % point difference, then apply the rule of thumb.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students misread scientific notation as a large number (e.g., read 8.688e-06 as 8.688). Do one example on the board before Q6.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 (professor's template): H0: There is no relationship between ideological stance and attitudes toward gun control in the population, i.e. they are independent. H1: There is an association between ideological stance and attitudes toward gun control in the population, i.e. they are not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0.0000002414 &lt; 0.05, so reject H0 and conclude that ideological stance and attitudes toward gun control are associated in the population. Remind students to write the p-value as a decimal, not just copy the e-notation. See the 'Right &amp; Wrong Wordings' section for an alternative phrasing of the fail-to-reject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Professor's template, adapted to HW9 variables. Students may also add the % point difference from Q4 for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NOTE — CONFIRM WITH PROFESSOR BEFORE PRESENTING. These three rows mirror the wording-alignment items: (1) p-value definition, (2) fail-to-reject conclusion, (3) percent vs. percentage points. If the professor prefers students use only the lecture wording, present the right column as 'deeper understanding' rather than an answer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NOTE — CONFIRM WITH PROFESSOR. These are the three errors most likely on HW9 Q4 and Q7. Error 1 happens when students read the column-proportion table (margin = 2) instead of the row table: 0.5696 = 57.0% of those who favor gun control are liberal.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wording kept as-is ('moderate to strong'). By the lecture's own bands, 30 falls in 'moderate (10–30)'. Flag for professor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frequencies for the housework table: yes row = 35 and 35; no row = 65 and 65. chi-square = sum of (fo - fe)^2 / fe = 225/35 + 225/35 + 225/65 + 225/65 = 19.78, matching the 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Professor's wording. See 'Wordings That Also Work' for the alternative phrasing of steps 2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(1) sex is in the rows, so use row percentages (margin = 1). (2) 0.32 &gt;= 0.05, so fail to reject H0. (3) 70 x 100 / 200 = 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5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2" y="4455623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3A4C-1B48-674C-8884-0AF86C723B2A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0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1A23-DE4D-544E-BA57-E444648059F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3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5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5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4771B-7B82-8042-8EB3-C62791280C38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12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D7A-05CF-6E4D-B9B8-0B2C55248867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4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6"/>
            <a:ext cx="4937760" cy="337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4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6"/>
            <a:ext cx="4937760" cy="337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D956B-38B9-954C-A872-60D625BD02D5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3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EC526-8FC0-C442-A31E-064A1A0C10EC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7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E716-49C6-8942-A2B7-E3F179B12C92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6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507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91"/>
            <a:ext cx="2618510" cy="365123"/>
          </a:xfrm>
        </p:spPr>
        <p:txBody>
          <a:bodyPr/>
          <a:lstStyle>
            <a:lvl1pPr algn="l">
              <a:defRPr/>
            </a:lvl1pPr>
          </a:lstStyle>
          <a:p>
            <a:fld id="{73DF522F-7BBB-1D41-9B7A-A1E320990800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91"/>
            <a:ext cx="4648200" cy="365123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6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6" y="491508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3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" y="4"/>
            <a:ext cx="12191985" cy="4915073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3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6877-702E-AD49-95E1-95E153D3C4A8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2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0BD30-D177-484F-B975-2F47C5E6BFF1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0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20"/>
            <a:ext cx="12188825" cy="64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80"/>
            <a:ext cx="2628900" cy="5757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80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A432-B80B-B740-B516-430FBA63D89E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127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3"/>
            <a:ext cx="12192002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1" y="6459791"/>
            <a:ext cx="2472272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41E05FF-A654-9D4A-BEBB-096DE9616CC0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91"/>
            <a:ext cx="4822803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9" y="6459791"/>
            <a:ext cx="1312025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8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07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5"/>
            <a:ext cx="10500000" cy="3566160"/>
          </a:xfrm>
        </p:spPr>
        <p:txBody>
          <a:bodyPr/>
          <a:lstStyle/>
          <a:p>
            <a:r>
              <a:rPr sz="5400"/>
              <a:t>Lab Section #12: Bivariate Categorical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Homework 9 walkthrough · Contingency tables · Chi-squared tests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Today’s Content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43200" y="1828800"/>
            <a:ext cx="3108960" cy="1737360"/>
          </a:xfrm>
          <a:prstGeom prst="rect">
            <a:avLst/>
          </a:prstGeom>
          <a:solidFill>
            <a:srgbClr val="CC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Review Homework</a:t>
            </a:r>
          </a:p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Assignment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3108960" cy="1737360"/>
          </a:xfrm>
          <a:prstGeom prst="rect">
            <a:avLst/>
          </a:prstGeom>
          <a:solidFill>
            <a:srgbClr val="E5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Right &amp; Wrong</a:t>
            </a:r>
          </a:p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Wordings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840480"/>
            <a:ext cx="3108960" cy="1737360"/>
          </a:xfrm>
          <a:prstGeom prst="rect">
            <a:avLst/>
          </a:prstGeom>
          <a:solidFill>
            <a:srgbClr val="F6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Reminders about</a:t>
            </a:r>
          </a:p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Posit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840480"/>
            <a:ext cx="3108960" cy="1737360"/>
          </a:xfrm>
          <a:prstGeom prst="rect">
            <a:avLst/>
          </a:prstGeom>
          <a:solidFill>
            <a:srgbClr val="BF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Review Lecture 12</a:t>
            </a:r>
          </a:p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 9 Walkthrough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Bivariate association between ideological stance and attitudes toward gun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of HW9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Link: </a:t>
            </a:r>
            <a:r>
              <a:rPr sz="1400" b="1" i="0" u="sng">
                <a:solidFill>
                  <a:srgbClr val="3D6A99"/>
                </a:solidFill>
                <a:latin typeface="Cambria"/>
              </a:rPr>
              <a:t>[insert HW9 Posit Cloud project link]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Use the link to the project &amp; save it as a permanent project in your account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Rename the project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Open the markdown file (HW9.Rmd) and resize the panes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Read all comments and follow the steps in the markdown file:</a:t>
            </a:r>
          </a:p>
          <a:p>
            <a:pPr marL="457200" indent="-228600" algn="l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404040"/>
                </a:solidFill>
                <a:latin typeface="Cambria"/>
              </a:rPr>
              <a:t>First code chunk will load two packages (tidyverse, readxl)</a:t>
            </a:r>
          </a:p>
          <a:p>
            <a:pPr marL="457200" indent="-228600" algn="l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404040"/>
                </a:solidFill>
                <a:latin typeface="Cambria"/>
              </a:rPr>
              <a:t>Second code chunk will read in the GSS file and count rows &amp; columns</a:t>
            </a:r>
          </a:p>
          <a:p>
            <a:pPr marL="457200" indent="-228600" algn="l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404040"/>
                </a:solidFill>
                <a:latin typeface="Cambria"/>
              </a:rPr>
              <a:t>Third code chunk will create a cross-tab of libconsv and gunlaw</a:t>
            </a:r>
          </a:p>
          <a:p>
            <a:pPr marL="457200" indent="-228600" algn="l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404040"/>
                </a:solidFill>
                <a:latin typeface="Cambria"/>
              </a:rPr>
              <a:t>Fourth code chunk will remove the “Moderate” category</a:t>
            </a:r>
          </a:p>
          <a:p>
            <a:pPr marL="457200" indent="-228600" algn="l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404040"/>
                </a:solidFill>
                <a:latin typeface="Cambria"/>
              </a:rPr>
              <a:t>Fifth code chunk will calculate ROW proportions</a:t>
            </a:r>
          </a:p>
          <a:p>
            <a:pPr marL="457200" indent="-228600" algn="l">
              <a:spcAft>
                <a:spcPts val="200"/>
              </a:spcAft>
              <a:buFont typeface="Arial"/>
              <a:buChar char="•"/>
            </a:pPr>
            <a:r>
              <a:rPr sz="1200" b="1" i="0">
                <a:solidFill>
                  <a:srgbClr val="404040"/>
                </a:solidFill>
                <a:latin typeface="Cambria"/>
              </a:rPr>
              <a:t>Sixth code chunk will calculate COLUMN proportions</a:t>
            </a:r>
          </a:p>
          <a:p>
            <a:pPr marL="457200" indent="-228600" algn="l">
              <a:spcAft>
                <a:spcPts val="1000"/>
              </a:spcAft>
              <a:buFont typeface="Arial"/>
              <a:buChar char="•"/>
            </a:pPr>
            <a:r>
              <a:rPr sz="1200" b="1" i="0">
                <a:solidFill>
                  <a:srgbClr val="404040"/>
                </a:solidFill>
                <a:latin typeface="Cambria"/>
              </a:rPr>
              <a:t>Seventh code chunk will run a chi-squared test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highlight>
                  <a:srgbClr val="FFFF00"/>
                </a:highlight>
                <a:latin typeface="Cambria"/>
              </a:rPr>
              <a:t>You need to run ALL code chunks in the exact order provided.</a:t>
            </a:r>
          </a:p>
        </p:txBody>
      </p:sp>
      <p:pic>
        <p:nvPicPr>
          <p:cNvPr id="7" name="Student illustration" descr="s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2514600"/>
            <a:ext cx="2743200" cy="2518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of HW9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66751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Link: </a:t>
            </a:r>
            <a:r>
              <a:rPr sz="1500" b="1" i="0" u="sng">
                <a:solidFill>
                  <a:srgbClr val="3D6A99"/>
                </a:solidFill>
                <a:latin typeface="Cambria"/>
              </a:rPr>
              <a:t>[insert HW9 Posit Cloud project link]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Change the </a:t>
            </a:r>
            <a:r>
              <a:rPr sz="1500" b="1" i="0">
                <a:solidFill>
                  <a:srgbClr val="C00000"/>
                </a:solidFill>
                <a:latin typeface="Cambria"/>
              </a:rPr>
              <a:t>author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 (line 3) and </a:t>
            </a:r>
            <a:r>
              <a:rPr sz="1500" b="1" i="0">
                <a:solidFill>
                  <a:srgbClr val="C00000"/>
                </a:solidFill>
                <a:latin typeface="Cambria"/>
              </a:rPr>
              <a:t>date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 (line 4) of the markdown file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0000"/>
                </a:solidFill>
                <a:latin typeface="Cambria"/>
              </a:rPr>
              <a:t>Do NOT change any other lines in the header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 — HW9 uses latex_engine: xelatex, and editing it may stop the PDF from knitting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Answer Q1–Q7 on BrightSpace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Knit the Markdown file as a PDF and save it to your computer/device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Upload the PDF as a response to HW 9. </a:t>
            </a:r>
            <a:r>
              <a:rPr sz="1500" b="1" i="0">
                <a:solidFill>
                  <a:srgbClr val="C00000"/>
                </a:solidFill>
                <a:highlight>
                  <a:srgbClr val="FFFF00"/>
                </a:highlight>
                <a:latin typeface="Cambria"/>
              </a:rPr>
              <a:t>Failure to submit the correct PDF = −0.5 points</a:t>
            </a:r>
          </a:p>
        </p:txBody>
      </p:sp>
      <p:pic>
        <p:nvPicPr>
          <p:cNvPr id="7" name="Student illustration" descr="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331720"/>
            <a:ext cx="2926080" cy="2771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New R Code at a Glance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51560" y="1828800"/>
          <a:ext cx="996696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3200400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Code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What it does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Key detail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ourier New"/>
                        </a:rPr>
                        <a:t>table(gss$libconsv, gss$gunlaw)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Makes a cross-tab (joint frequency table)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1st variable </a:t>
                      </a:r>
                      <a:r>
                        <a:rPr sz="1300">
                          <a:solidFill>
                            <a:srgbClr val="404040"/>
                          </a:solidFill>
                          <a:latin typeface="Arial"/>
                        </a:rPr>
                        <a:t>→</a:t>
                      </a:r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 rows, 2nd variable </a:t>
                      </a:r>
                      <a:r>
                        <a:rPr sz="1300">
                          <a:solidFill>
                            <a:srgbClr val="404040"/>
                          </a:solidFill>
                          <a:latin typeface="Arial"/>
                        </a:rPr>
                        <a:t>→</a:t>
                      </a:r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 columns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ourier New"/>
                        </a:rPr>
                        <a:t>gss[gss$libconsv != 'Moderate', ]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Keeps only rows that are NOT “Moderate”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!= means “not equal to”; the empty spot after the comma keeps all columns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ourier New"/>
                        </a:rPr>
                        <a:t>prop.table(..., margin = 1)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Turns counts into ROW proportions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Each row adds up to 1 (100%)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ourier New"/>
                        </a:rPr>
                        <a:t>prop.table(..., margin = 2)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Turns counts into COLUMN proportions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Each column adds up to 1 (100%)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ourier New"/>
                        </a:rPr>
                        <a:t>chisq.test(x, y, correct = FALSE)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Runs a chi-squared test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Look for X-squared, df, and the p-value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1560" y="53492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D6A99"/>
                </a:solidFill>
                <a:latin typeface="Cambria"/>
              </a:rPr>
              <a:t>Students will not write this code — but knowing what each line does makes the output much easier to 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Reading the Cross-Tab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D6A99"/>
                </a:solidFill>
                <a:latin typeface="Cambria"/>
              </a:rPr>
              <a:t>A joint frequency table shows how many cases fall into each combination of categories.</a:t>
            </a:r>
          </a:p>
        </p:txBody>
      </p:sp>
      <p:sp>
        <p:nvSpPr>
          <p:cNvPr id="7" name="Code block"/>
          <p:cNvSpPr/>
          <p:nvPr/>
        </p:nvSpPr>
        <p:spPr>
          <a:xfrm>
            <a:off x="1051560" y="2331720"/>
            <a:ext cx="4937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text"/>
          <p:cNvSpPr txBox="1"/>
          <p:nvPr/>
        </p:nvSpPr>
        <p:spPr>
          <a:xfrm>
            <a:off x="1143000" y="2377439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table(gss$libconsv, gss$gunlaw)</a:t>
            </a:r>
          </a:p>
        </p:txBody>
      </p:sp>
      <p:sp>
        <p:nvSpPr>
          <p:cNvPr id="9" name="Code block"/>
          <p:cNvSpPr/>
          <p:nvPr/>
        </p:nvSpPr>
        <p:spPr>
          <a:xfrm>
            <a:off x="1051560" y="2926080"/>
            <a:ext cx="493776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 text"/>
          <p:cNvSpPr txBox="1"/>
          <p:nvPr/>
        </p:nvSpPr>
        <p:spPr>
          <a:xfrm>
            <a:off x="1143000" y="2971800"/>
            <a:ext cx="47548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##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##                Favor Oppose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##   Conservative   204     52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##   Liberal        270     16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##   Moderate       355    103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D6A99"/>
                </a:solidFill>
                <a:latin typeface="Cambria"/>
              </a:rPr>
              <a:t>Total = 1000 respondents. 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R lists categories in alphabetical order, so Conservative appears before Liberal.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How to read it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first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variable in table() becomes 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rows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</a:t>
            </a:r>
            <a:r>
              <a:rPr sz="1400" b="1">
                <a:solidFill>
                  <a:srgbClr val="404040"/>
                </a:solidFill>
                <a:latin typeface="Arial"/>
              </a:rPr>
              <a:t>→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libconsv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second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variable becomes 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columns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</a:t>
            </a:r>
            <a:r>
              <a:rPr sz="1400" b="1">
                <a:solidFill>
                  <a:srgbClr val="404040"/>
                </a:solidFill>
                <a:latin typeface="Arial"/>
              </a:rPr>
              <a:t>→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gunlaw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Each cell is a count: e.g.,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270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liberals favor gun control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libconsv has three categories: liberal, moderate, conservative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Question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D6A99"/>
                </a:solidFill>
                <a:latin typeface="Cambria"/>
              </a:rPr>
              <a:t>What is the specific level of measurement (nominal, ordinal, interval, ratio) of each of the two variables?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Ask: are the values categories or numbers? If categories,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can they be put in a natural order?</a:t>
            </a:r>
          </a:p>
        </p:txBody>
      </p:sp>
      <p:sp>
        <p:nvSpPr>
          <p:cNvPr id="8" name="Card libconsv"/>
          <p:cNvSpPr/>
          <p:nvPr/>
        </p:nvSpPr>
        <p:spPr>
          <a:xfrm>
            <a:off x="1051560" y="2971800"/>
            <a:ext cx="4846320" cy="265176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4389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55A11"/>
                </a:solidFill>
                <a:latin typeface="Courier New"/>
              </a:rPr>
              <a:t>libconsv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Respondent’s ideological stance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404040"/>
                </a:solidFill>
                <a:latin typeface="Cambria"/>
              </a:rPr>
              <a:t>Categories: 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Liberal · Moderate · Conservative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Natural order?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Yes (liberal </a:t>
            </a:r>
            <a:r>
              <a:rPr sz="1400" b="1">
                <a:solidFill>
                  <a:srgbClr val="C00000"/>
                </a:solidFill>
                <a:latin typeface="Arial"/>
              </a:rPr>
              <a:t>→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 moderate </a:t>
            </a:r>
            <a:r>
              <a:rPr sz="1400" b="1">
                <a:solidFill>
                  <a:srgbClr val="C00000"/>
                </a:solidFill>
                <a:latin typeface="Arial"/>
              </a:rPr>
              <a:t>→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 conservative)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Level of measurement: </a:t>
            </a:r>
            <a:r>
              <a:rPr sz="1800" b="1" i="0">
                <a:solidFill>
                  <a:srgbClr val="C00000"/>
                </a:solidFill>
                <a:latin typeface="Cambria"/>
              </a:rPr>
              <a:t>Ordinal</a:t>
            </a:r>
          </a:p>
        </p:txBody>
      </p:sp>
      <p:sp>
        <p:nvSpPr>
          <p:cNvPr id="10" name="Card gunlaw"/>
          <p:cNvSpPr/>
          <p:nvPr/>
        </p:nvSpPr>
        <p:spPr>
          <a:xfrm>
            <a:off x="6126479" y="2971800"/>
            <a:ext cx="4846320" cy="265176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3108960"/>
            <a:ext cx="4389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55A11"/>
                </a:solidFill>
                <a:latin typeface="Courier New"/>
              </a:rPr>
              <a:t>gunlaw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Respondent’s attitudes towards gun control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404040"/>
                </a:solidFill>
                <a:latin typeface="Cambria"/>
              </a:rPr>
              <a:t>Categories: 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Favor · Oppose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Natural order?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No (named categories, no low/high end)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Level of measurement: </a:t>
            </a:r>
            <a:r>
              <a:rPr sz="1800" b="1" i="0">
                <a:solidFill>
                  <a:srgbClr val="C00000"/>
                </a:solidFill>
                <a:latin typeface="Cambria"/>
              </a:rPr>
              <a:t>Nominal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Question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D6A99"/>
                </a:solidFill>
                <a:latin typeface="Cambria"/>
              </a:rPr>
              <a:t>Which variable should be the independent variable X (cause / inherent characteristics), and which should be the dependent variable Y (effect / outcome)?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56692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Use the logic of causal order: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The cause should come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before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the effect.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X is a broader, more stable characteristic of a person.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Y is a specific attitude or outcome we want to explain.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Which is more likely to shape the other: a person’s overall ideology, or their opinion on one policy?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40880" y="2743200"/>
          <a:ext cx="397764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196596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Role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Variable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Cambria"/>
                        </a:rPr>
                        <a:t>X (independent)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  <a:latin typeface="Courier New"/>
                        </a:rPr>
                        <a:t>libconsv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Cambria"/>
                        </a:rPr>
                        <a:t>Y (dependent)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  <a:latin typeface="Courier New"/>
                        </a:rPr>
                        <a:t>gunlaw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4389120"/>
            <a:ext cx="397763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Ideology is a broader, earlier worldview that shapes a specific policy opinion like gun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Removing the “Moderate” Category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D6A99"/>
                </a:solidFill>
                <a:latin typeface="Cambria"/>
              </a:rPr>
              <a:t>To simplify the question, we compare only liberals vs. conservatives.</a:t>
            </a:r>
          </a:p>
        </p:txBody>
      </p:sp>
      <p:sp>
        <p:nvSpPr>
          <p:cNvPr id="7" name="Code block"/>
          <p:cNvSpPr/>
          <p:nvPr/>
        </p:nvSpPr>
        <p:spPr>
          <a:xfrm>
            <a:off x="1051560" y="2331720"/>
            <a:ext cx="996696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text"/>
          <p:cNvSpPr txBox="1"/>
          <p:nvPr/>
        </p:nvSpPr>
        <p:spPr>
          <a:xfrm>
            <a:off x="1143000" y="2377439"/>
            <a:ext cx="9784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gss2 &lt;- gss[gss$libconsv != 'Moderate', ]   # exclude "moderate"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nrow(gss2)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ncol(gss2)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51560" y="3474720"/>
          <a:ext cx="493776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Piece of code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Meaning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ourier New"/>
                        </a:rPr>
                        <a:t>gss2 &lt;-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Save the result as a NEW data frame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ourier New"/>
                        </a:rPr>
                        <a:t>!= 'Moderate'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Keep rows that are not Moderate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ourier New"/>
                        </a:rPr>
                        <a:t>, ]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Keep all columns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3474720"/>
            <a:ext cx="4754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Check your work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Rows before: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1000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Rows after (nrow(gss2)):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542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Columns stay the same: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55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All later chunks use gss2, not gss. Skipping this chunk will cause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Row vs. Column Proportions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D6A99"/>
                </a:solidFill>
                <a:latin typeface="Cambria"/>
              </a:rPr>
              <a:t>Same table, two ways to calculate percentages. Proportion × 100 = percentage.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55A11"/>
                </a:solidFill>
                <a:latin typeface="Cambria"/>
              </a:rPr>
              <a:t>ROW proportions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 (margin = 1)</a:t>
            </a:r>
          </a:p>
        </p:txBody>
      </p:sp>
      <p:sp>
        <p:nvSpPr>
          <p:cNvPr id="8" name="Code block"/>
          <p:cNvSpPr/>
          <p:nvPr/>
        </p:nvSpPr>
        <p:spPr>
          <a:xfrm>
            <a:off x="1051560" y="2743200"/>
            <a:ext cx="484632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text"/>
          <p:cNvSpPr txBox="1"/>
          <p:nvPr/>
        </p:nvSpPr>
        <p:spPr>
          <a:xfrm>
            <a:off x="1143000" y="278892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prop.table(table(gss2$libconsv,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  gss2$gunlaw), margin = 1)</a:t>
            </a:r>
          </a:p>
        </p:txBody>
      </p:sp>
      <p:sp>
        <p:nvSpPr>
          <p:cNvPr id="10" name="Code block"/>
          <p:cNvSpPr/>
          <p:nvPr/>
        </p:nvSpPr>
        <p:spPr>
          <a:xfrm>
            <a:off x="1051560" y="3383280"/>
            <a:ext cx="484632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text"/>
          <p:cNvSpPr txBox="1"/>
          <p:nvPr/>
        </p:nvSpPr>
        <p:spPr>
          <a:xfrm>
            <a:off x="1143000" y="3429000"/>
            <a:ext cx="4663440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                 Favor     Oppose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Conservative 0.79687500 0.20312500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Liberal      0.94405594 0.05594406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720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Cambria"/>
              </a:rPr>
              <a:t>Check: each ROW adds up to 1 (100%)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Conservatives: 79.7% + 20.3% = 100%. Liberals: 94.4% + 5.6% = 100%.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2860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55A11"/>
                </a:solidFill>
                <a:latin typeface="Cambria"/>
              </a:rPr>
              <a:t>COLUMN proportions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 (margin = 2)</a:t>
            </a:r>
          </a:p>
        </p:txBody>
      </p:sp>
      <p:sp>
        <p:nvSpPr>
          <p:cNvPr id="14" name="Code block"/>
          <p:cNvSpPr/>
          <p:nvPr/>
        </p:nvSpPr>
        <p:spPr>
          <a:xfrm>
            <a:off x="6126479" y="2743200"/>
            <a:ext cx="484632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de text"/>
          <p:cNvSpPr txBox="1"/>
          <p:nvPr/>
        </p:nvSpPr>
        <p:spPr>
          <a:xfrm>
            <a:off x="6217919" y="278892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prop.table(table(gss2$libconsv,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  gss2$gunlaw), margin = 2)</a:t>
            </a:r>
          </a:p>
        </p:txBody>
      </p:sp>
      <p:sp>
        <p:nvSpPr>
          <p:cNvPr id="16" name="Code block"/>
          <p:cNvSpPr/>
          <p:nvPr/>
        </p:nvSpPr>
        <p:spPr>
          <a:xfrm>
            <a:off x="6126479" y="3383280"/>
            <a:ext cx="484632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de text"/>
          <p:cNvSpPr txBox="1"/>
          <p:nvPr/>
        </p:nvSpPr>
        <p:spPr>
          <a:xfrm>
            <a:off x="6217919" y="3429000"/>
            <a:ext cx="4663440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                Favor    Oppose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Conservative 0.4303797 0.7647059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Liberal      0.5696203 0.2352941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457200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Cambria"/>
              </a:rPr>
              <a:t>Check: each COLUMN adds up to 1 (100%)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Favor: 43.0% + 57.0% = 100%. Oppose: 76.5% + 23.5% = 100%.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Question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D6A99"/>
                </a:solidFill>
                <a:latin typeface="Cambria"/>
              </a:rPr>
              <a:t>Based on your identification of X and Y, which table layout (row percentage or column percentage) is better for analyzing the association?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Rule from lecture: look for your X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If X is in 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row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, use row percentages; each row adds up to 100%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If X is in 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column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, use column percentages; each col adds up to 100%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Identifying X and Y is important, and the table layout does NOT matter.</a:t>
            </a:r>
          </a:p>
        </p:txBody>
      </p:sp>
      <p:sp>
        <p:nvSpPr>
          <p:cNvPr id="8" name="Code block"/>
          <p:cNvSpPr/>
          <p:nvPr/>
        </p:nvSpPr>
        <p:spPr>
          <a:xfrm>
            <a:off x="6858000" y="2697480"/>
            <a:ext cx="416052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text"/>
          <p:cNvSpPr txBox="1"/>
          <p:nvPr/>
        </p:nvSpPr>
        <p:spPr>
          <a:xfrm>
            <a:off x="6949440" y="2743200"/>
            <a:ext cx="39776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table(gss2$libconsv, gss2$gunlaw)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91840"/>
            <a:ext cx="4160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Where is libconsv (X)?  </a:t>
            </a:r>
            <a:r>
              <a:rPr sz="1500" b="1" i="0">
                <a:solidFill>
                  <a:srgbClr val="C00000"/>
                </a:solidFill>
                <a:latin typeface="Cambria"/>
              </a:rPr>
              <a:t>in the rows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So we use:  </a:t>
            </a:r>
            <a:r>
              <a:rPr sz="1500" b="1" i="0">
                <a:solidFill>
                  <a:srgbClr val="C00000"/>
                </a:solidFill>
                <a:latin typeface="Cambria"/>
              </a:rPr>
              <a:t>row percentages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margin = </a:t>
            </a:r>
            <a:r>
              <a:rPr sz="1500" b="1" i="0">
                <a:solidFill>
                  <a:srgbClr val="C00000"/>
                </a:solidFill>
                <a:latin typeface="Cambria"/>
              </a:rPr>
              <a:t>1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  (each ideology group adds up to 100%)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Question 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D6A99"/>
                </a:solidFill>
                <a:latin typeface="Cambria"/>
              </a:rPr>
              <a:t>Is there an association between libconsv and gunlaw? Describe 1) the pattern, 2) the strength based on the rule of thumb, and 3) the specific % point difference.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62179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Fill in from the ROW-percentage table: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Among all the liberals,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94.4%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favor gun control.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Among all the conservatives,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79.7%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favor gun control.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There is a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14.7% points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difference (94.4 − 79.7). (3: % point difference)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Interpretation: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There is a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moderate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association between ideological stance and attitudes toward gun control. (2: strength)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Liberals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are more likely to favor gun control than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conservatives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. (1: pattern)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2697480"/>
          <a:ext cx="3429000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96596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% point difference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Rule of thumb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0–9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little to no association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10–30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moderate association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31+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strong association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4754880"/>
            <a:ext cx="3429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highlight>
                  <a:srgbClr val="FFFF00"/>
                </a:highlight>
                <a:latin typeface="Cambria"/>
              </a:rPr>
              <a:t>Address all three parts for full credit.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Reading the Chi-squared Output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de block"/>
          <p:cNvSpPr/>
          <p:nvPr/>
        </p:nvSpPr>
        <p:spPr>
          <a:xfrm>
            <a:off x="1051560" y="1783080"/>
            <a:ext cx="54864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1143000" y="1828800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chisq.test(gss2$libconsv, gss2$gunlaw, correct=FALSE)</a:t>
            </a:r>
          </a:p>
        </p:txBody>
      </p:sp>
      <p:sp>
        <p:nvSpPr>
          <p:cNvPr id="8" name="Code block"/>
          <p:cNvSpPr/>
          <p:nvPr/>
        </p:nvSpPr>
        <p:spPr>
          <a:xfrm>
            <a:off x="1051560" y="2423160"/>
            <a:ext cx="5486400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text"/>
          <p:cNvSpPr txBox="1"/>
          <p:nvPr/>
        </p:nvSpPr>
        <p:spPr>
          <a:xfrm>
            <a:off x="1143000" y="2468879"/>
            <a:ext cx="5303520" cy="20116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Pearson's Chi-squared test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data:  gss2$libconsv and gss2$gunlaw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X-squared = 26.67, df = 1,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##   p-value = 2.414e-07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4663440"/>
          <a:ext cx="5486400" cy="1417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393192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Part of output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What it is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X-squared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the χ² test statistic (always ≥ 0)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df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(# rows − 1) × (# columns − 1) 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Arial"/>
                        </a:rPr>
                        <a:t>→</a:t>
                      </a:r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  2×2 table: df = 1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p-value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what we compare to the alpha level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1783080"/>
            <a:ext cx="42062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55A11"/>
                </a:solidFill>
                <a:latin typeface="Cambria"/>
              </a:rPr>
              <a:t>Reading scientific notation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e-06 means: move the decimal point 6 places to the left (e-07: 7 places).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Courier New"/>
              </a:rPr>
              <a:t>8.688e-06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 =  </a:t>
            </a:r>
            <a:r>
              <a:rPr sz="1400" b="0" i="0">
                <a:solidFill>
                  <a:srgbClr val="C00000"/>
                </a:solidFill>
                <a:latin typeface="Courier New"/>
              </a:rPr>
              <a:t>0.000008688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HW9: </a:t>
            </a:r>
            <a:r>
              <a:rPr sz="1400" b="0" i="0">
                <a:solidFill>
                  <a:srgbClr val="404040"/>
                </a:solidFill>
                <a:latin typeface="Courier New"/>
              </a:rPr>
              <a:t>2.414e-07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 =  </a:t>
            </a:r>
            <a:r>
              <a:rPr sz="1400" b="0" i="0">
                <a:solidFill>
                  <a:srgbClr val="C00000"/>
                </a:solidFill>
                <a:latin typeface="Courier New"/>
              </a:rPr>
              <a:t>0.0000002414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If R shows </a:t>
            </a:r>
            <a:r>
              <a:rPr sz="1400" b="0" i="0">
                <a:solidFill>
                  <a:srgbClr val="404040"/>
                </a:solidFill>
                <a:latin typeface="Courier New"/>
              </a:rPr>
              <a:t>p-value &lt; 2.2e-16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, the p-value is smaller than R can display. Report it as p &lt; 0.001.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Note: R does not generate H0 and H1 for the chi-squared test. It’s your responsibility.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Question 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D6A99"/>
                </a:solidFill>
                <a:latin typeface="Cambria"/>
              </a:rPr>
              <a:t>What is the null hypothesis, and what is the alternative hypothesis for the test? State both for full credit.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55A11"/>
                </a:solidFill>
                <a:latin typeface="Cambria"/>
              </a:rPr>
              <a:t>Using the template from lecture:</a:t>
            </a:r>
          </a:p>
        </p:txBody>
      </p:sp>
      <p:sp>
        <p:nvSpPr>
          <p:cNvPr id="8" name="H0 card"/>
          <p:cNvSpPr/>
          <p:nvPr/>
        </p:nvSpPr>
        <p:spPr>
          <a:xfrm>
            <a:off x="1051560" y="2880360"/>
            <a:ext cx="9966960" cy="118872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71800"/>
            <a:ext cx="1097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C55A11"/>
                </a:solidFill>
                <a:latin typeface="Cambria"/>
              </a:rPr>
              <a:t>H0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971800"/>
            <a:ext cx="8503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There is no relationship between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ideological stance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and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attitudes toward gun control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in the population, i.e., they are independent.</a:t>
            </a:r>
          </a:p>
        </p:txBody>
      </p:sp>
      <p:sp>
        <p:nvSpPr>
          <p:cNvPr id="11" name="H1 card"/>
          <p:cNvSpPr/>
          <p:nvPr/>
        </p:nvSpPr>
        <p:spPr>
          <a:xfrm>
            <a:off x="1051560" y="4297680"/>
            <a:ext cx="9966960" cy="118872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89120"/>
            <a:ext cx="1097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C55A11"/>
                </a:solidFill>
                <a:latin typeface="Cambria"/>
              </a:rP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389120"/>
            <a:ext cx="8503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There is an association between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ideological stance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and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attitudes toward gun control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in the population, i.e., they are not independent.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7150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Hypotheses are always about the population, not the sample.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Question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D6A99"/>
                </a:solidFill>
                <a:latin typeface="Cambria"/>
              </a:rPr>
              <a:t>What is the p-value of the test, which value should you compare the p-value to, and what is your decision regarding the null hypothesis? Answer all three parts.</a:t>
            </a:r>
          </a:p>
        </p:txBody>
      </p:sp>
      <p:sp>
        <p:nvSpPr>
          <p:cNvPr id="7" name="Step 1"/>
          <p:cNvSpPr/>
          <p:nvPr/>
        </p:nvSpPr>
        <p:spPr>
          <a:xfrm>
            <a:off x="1051560" y="2651760"/>
            <a:ext cx="3154680" cy="155448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2697480"/>
            <a:ext cx="2788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55A11"/>
                </a:solidFill>
                <a:latin typeface="Cambria"/>
              </a:rPr>
              <a:t>1. p-value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Cambria"/>
              </a:rPr>
              <a:t>2.414e-07 = 0.0000002414</a:t>
            </a:r>
          </a:p>
        </p:txBody>
      </p:sp>
      <p:sp>
        <p:nvSpPr>
          <p:cNvPr id="9" name="Step 2"/>
          <p:cNvSpPr/>
          <p:nvPr/>
        </p:nvSpPr>
        <p:spPr>
          <a:xfrm>
            <a:off x="4434840" y="2651760"/>
            <a:ext cx="3154680" cy="155448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697480"/>
            <a:ext cx="2788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55A11"/>
                </a:solidFill>
                <a:latin typeface="Cambria"/>
              </a:rPr>
              <a:t>2. Compare to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Cambria"/>
              </a:rPr>
              <a:t>alpha = 0.05</a:t>
            </a:r>
          </a:p>
        </p:txBody>
      </p:sp>
      <p:sp>
        <p:nvSpPr>
          <p:cNvPr id="11" name="Step 3"/>
          <p:cNvSpPr/>
          <p:nvPr/>
        </p:nvSpPr>
        <p:spPr>
          <a:xfrm>
            <a:off x="7818120" y="2651760"/>
            <a:ext cx="3154680" cy="155448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697480"/>
            <a:ext cx="2788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55A11"/>
                </a:solidFill>
                <a:latin typeface="Cambria"/>
              </a:rPr>
              <a:t>3. Decision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Cambria"/>
              </a:rPr>
              <a:t>Reject H0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34840"/>
            <a:ext cx="9966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Decision rule from lecture: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P-value &lt; 0.05: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reject H0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, conclude that the two variables are associated.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P-value &gt;= 0.05: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failed to reject H0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, conclude that the two variables are independent.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HW9: 0.0000002414 &lt; 0.05, so we reject H0 and conclude the two variables are associated.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HW9: Question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D6A99"/>
                </a:solidFill>
                <a:latin typeface="Cambria"/>
              </a:rPr>
              <a:t>Write a paragraph summarizing all of your findings. Follow the template in the lecture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55A11"/>
                </a:solidFill>
                <a:latin typeface="Cambria"/>
              </a:rPr>
              <a:t>Template: strength + pattern + significance</a:t>
            </a:r>
          </a:p>
        </p:txBody>
      </p:sp>
      <p:sp>
        <p:nvSpPr>
          <p:cNvPr id="8" name="Summary card"/>
          <p:cNvSpPr/>
          <p:nvPr/>
        </p:nvSpPr>
        <p:spPr>
          <a:xfrm>
            <a:off x="1051560" y="2834640"/>
            <a:ext cx="9966960" cy="251460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9509760" cy="233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Our sample data indicates that there is a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moderate association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[strength] between ideological stance and attitudes toward gun control. Particularly,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liberals are more likely to favor gun control than conservatives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[pattern]. A chi-squared test shows that this association is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statistically significant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in the population at the 0.05 significance level, with a p-value of </a:t>
            </a:r>
            <a:r>
              <a:rPr sz="1600" b="1" i="0">
                <a:solidFill>
                  <a:srgbClr val="C00000"/>
                </a:solidFill>
                <a:latin typeface="Cambria"/>
              </a:rPr>
              <a:t>0.0000002414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[significance].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8640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Checklist: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strength ✓  pattern ✓  significance (p-value + 0.05 level) ✓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   Optional: add “a 14.7 percentage-point difference” after the strength.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 &amp; Wrong Wordings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alternative wordings that also work, and three common errors to avoid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Wordings That Also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51560" y="1783080"/>
          <a:ext cx="9966960" cy="4069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651760"/>
                <a:gridCol w="310896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Topic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Lecture wording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Alternative that also works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Why it works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What the p-value means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“P-value in chi2 test = the probability of independence.”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“The p-value is the probability of seeing an association this strong in a sample if the two variables were independent in the population.”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The test assumes independence, then asks how surprising our sample is.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Failing to reject H0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“P-value &gt;= 0.05: failed to reject H0, conclude that the two variables are independent.”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“P-value &gt;= 0.05: failed to reject H0; the sample does not provide enough evidence of an association in the population.”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A non-significant result is a lack of evidence, not proof that there is no association.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Size of the difference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“50% − 20% = 30% difference”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“a 30 percentage-point difference”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50% is 150% higher than 20%; “percentage points” avoids that confusion.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1560" y="58978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D6A99"/>
                </a:solidFill>
                <a:latin typeface="Cambria"/>
              </a:rPr>
              <a:t>Both versions in each row are acceptable; the alternative is more precise.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Avoid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51560" y="1783080"/>
          <a:ext cx="9966960" cy="4069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560320"/>
                <a:gridCol w="283464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Common error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✗  What students write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✓  Write this instead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Why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Percentages in the wrong direction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“57.0% of people who favor gun control are liberals.”</a:t>
                      </a:r>
                    </a:p>
                  </a:txBody>
                  <a:tcPr anchor="ctr" marL="73152" marR="73152" marT="36576" marB="36576">
                    <a:solidFill>
                      <a:srgbClr val="F8D7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“Among all the liberals, 94.4% favor gun control.”</a:t>
                      </a:r>
                    </a:p>
                  </a:txBody>
                  <a:tcPr anchor="ctr" marL="73152" marR="73152" marT="36576" marB="36576">
                    <a:solidFill>
                      <a:srgbClr val="DDEE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Percentages must be calculated along X (ideology) so we compare liberals with conservatives.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Treating significance as strength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“The p-value is very small, so the association is very strong.”</a:t>
                      </a:r>
                    </a:p>
                  </a:txBody>
                  <a:tcPr anchor="ctr" marL="73152" marR="73152" marT="36576" marB="36576">
                    <a:solidFill>
                      <a:srgbClr val="F8D7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“The % point difference shows the strength; the p-value shows whether it holds in the population.”</a:t>
                      </a:r>
                    </a:p>
                  </a:txBody>
                  <a:tcPr anchor="ctr" marL="73152" marR="73152" marT="36576" marB="36576">
                    <a:solidFill>
                      <a:srgbClr val="DDEE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Strength and significance are separate measures. Large samples can make small differences significant.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Claiming causation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“Being liberal causes people to support gun control.”</a:t>
                      </a:r>
                    </a:p>
                  </a:txBody>
                  <a:tcPr anchor="ctr" marL="73152" marR="73152" marT="36576" marB="36576">
                    <a:solidFill>
                      <a:srgbClr val="F8D7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“Liberals are more likely than conservatives to favor gun control.”</a:t>
                      </a:r>
                    </a:p>
                  </a:txBody>
                  <a:tcPr anchor="ctr" marL="73152" marR="73152" marT="36576" marB="36576">
                    <a:solidFill>
                      <a:srgbClr val="DDEE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Association ≠ causation. A cross-tab and chi-squared test show association only.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1560" y="58978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0000"/>
                </a:solidFill>
                <a:latin typeface="Cambria"/>
              </a:rPr>
              <a:t>Each of these errors can cost points on Q4, Q6, or Q7.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Reminders about Posit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Running chunks, knitting, and starting fresh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R Markdown Files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99669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3D6A99"/>
                </a:solidFill>
                <a:latin typeface="Cambria"/>
              </a:rPr>
              <a:t>Markdown files are advantageous for a lot of reasons but they can be a little tricky to work in: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Be careful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not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to type inside a code chunk unless you are intentionally altering the code within it.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Be mindful that functions/commands/code are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case sensitive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, so are the names of saved objects (gss vs. gss2).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Cambria"/>
              </a:rPr>
              <a:t>Be mindful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about spelling and the use of parentheses and quotation marks.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When changing the author and date in the header, be sure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NOT to delete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the quotation marks or write outside of the quotation marks.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Knitting starts R fresh, so every package and object must be created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inside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the markdown file — that is why the first code chunk loads packages.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Be sure to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run all code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chunks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in the exact order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provided to avoid errors.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404040"/>
                </a:solidFill>
                <a:latin typeface="Cambria"/>
              </a:rPr>
              <a:t>After running all code, you need to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“knit”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the Markdown file to a PDF, and download the PDF for HW submission.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 Cloud Pro Tip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D6A99"/>
                </a:solidFill>
                <a:latin typeface="Cambria"/>
              </a:rPr>
              <a:t>If you are having difficulties running code or knitting PDFs, </a:t>
            </a:r>
            <a:r>
              <a:rPr sz="1500" b="1" i="0">
                <a:solidFill>
                  <a:srgbClr val="C00000"/>
                </a:solidFill>
                <a:latin typeface="Cambria"/>
              </a:rPr>
              <a:t>one solution is to restart R and run all the code chunks in order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. Click the </a:t>
            </a:r>
            <a:r>
              <a:rPr sz="1500" b="1" i="0">
                <a:solidFill>
                  <a:srgbClr val="404040"/>
                </a:solidFill>
                <a:highlight>
                  <a:srgbClr val="FFFF00"/>
                </a:highlight>
                <a:latin typeface="Cambria"/>
              </a:rPr>
              <a:t>Run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 button and select </a:t>
            </a:r>
            <a:r>
              <a:rPr sz="1500" b="1" i="0">
                <a:solidFill>
                  <a:srgbClr val="404040"/>
                </a:solidFill>
                <a:highlight>
                  <a:srgbClr val="FFFF00"/>
                </a:highlight>
                <a:latin typeface="Cambria"/>
              </a:rPr>
              <a:t>“Restart R and Run All Chunks”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.</a:t>
            </a:r>
          </a:p>
        </p:txBody>
      </p:sp>
      <p:pic>
        <p:nvPicPr>
          <p:cNvPr id="7" name="Restart R screenshot" descr="re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743200"/>
            <a:ext cx="6400800" cy="29674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Reminders on Posit Cloud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99669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Students will </a:t>
            </a:r>
            <a:r>
              <a:rPr sz="1500" b="1" i="1">
                <a:solidFill>
                  <a:srgbClr val="C00000"/>
                </a:solidFill>
                <a:latin typeface="Cambria"/>
              </a:rPr>
              <a:t>not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 be required to write R code for HW9.</a:t>
            </a:r>
          </a:p>
          <a:p>
            <a:pPr algn="l">
              <a:spcAft>
                <a:spcPts val="1800"/>
              </a:spcAft>
            </a:pPr>
            <a:r>
              <a:rPr sz="1500" b="1" i="0">
                <a:solidFill>
                  <a:srgbClr val="404040"/>
                </a:solidFill>
                <a:highlight>
                  <a:srgbClr val="FFFF00"/>
                </a:highlight>
                <a:latin typeface="Cambria"/>
              </a:rPr>
              <a:t>Be sure to </a:t>
            </a:r>
            <a:r>
              <a:rPr sz="1500" b="1" i="0">
                <a:solidFill>
                  <a:srgbClr val="C00000"/>
                </a:solidFill>
                <a:highlight>
                  <a:srgbClr val="FFFF00"/>
                </a:highlight>
                <a:latin typeface="Cambria"/>
              </a:rPr>
              <a:t>run all code chunks in the exact order provided</a:t>
            </a:r>
            <a:r>
              <a:rPr sz="1500" b="1" i="0">
                <a:solidFill>
                  <a:srgbClr val="404040"/>
                </a:solidFill>
                <a:highlight>
                  <a:srgbClr val="FFFF00"/>
                </a:highlight>
                <a:latin typeface="Cambria"/>
              </a:rPr>
              <a:t>. Skipping the “remove Moderates” chunk means gss2 will not exist and later chunks will fail.</a:t>
            </a:r>
          </a:p>
          <a:p>
            <a:pPr algn="l">
              <a:spcAft>
                <a:spcPts val="18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If you edit or delete something in a markdown file, you can always </a:t>
            </a:r>
            <a:r>
              <a:rPr sz="1500" b="1" i="0">
                <a:solidFill>
                  <a:srgbClr val="C55A11"/>
                </a:solidFill>
                <a:latin typeface="Cambria"/>
              </a:rPr>
              <a:t>start over by opening the original link to the Project posted on BrightSpace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If your markdown file is NOT changed or edited, but you still run into errors, use the </a:t>
            </a:r>
            <a:r>
              <a:rPr sz="1500" b="1" i="0">
                <a:solidFill>
                  <a:srgbClr val="404040"/>
                </a:solidFill>
                <a:highlight>
                  <a:srgbClr val="FFFF00"/>
                </a:highlight>
                <a:latin typeface="Cambria"/>
              </a:rPr>
              <a:t>restart R and run all code chunks</a:t>
            </a:r>
            <a:r>
              <a:rPr sz="1500" b="1" i="0">
                <a:solidFill>
                  <a:srgbClr val="404040"/>
                </a:solidFill>
                <a:latin typeface="Cambria"/>
              </a:rPr>
              <a:t> option to reset the session.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Measuring association with categorical variables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From one variable to two</a:t>
            </a:r>
          </a:p>
        </p:txBody>
      </p:sp>
      <p:sp>
        <p:nvSpPr>
          <p:cNvPr id="8" name="Univariate analysis"/>
          <p:cNvSpPr/>
          <p:nvPr/>
        </p:nvSpPr>
        <p:spPr>
          <a:xfrm>
            <a:off x="1051560" y="2377440"/>
            <a:ext cx="4846320" cy="210312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39" y="2468880"/>
            <a:ext cx="4480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C55A11"/>
                </a:solidFill>
                <a:latin typeface="Cambria"/>
              </a:rPr>
              <a:t>Univariate analysis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Looks at one variable at a time: its frequency distribution and summary statistics (mean, %), and uses the sample to predict the population (e.g., sample mean </a:t>
            </a:r>
            <a:r>
              <a:rPr sz="1400" b="0">
                <a:solidFill>
                  <a:srgbClr val="404040"/>
                </a:solidFill>
                <a:latin typeface="Arial"/>
              </a:rPr>
              <a:t>→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 population mean).</a:t>
            </a:r>
          </a:p>
        </p:txBody>
      </p:sp>
      <p:sp>
        <p:nvSpPr>
          <p:cNvPr id="10" name="Bivariate analysis"/>
          <p:cNvSpPr/>
          <p:nvPr/>
        </p:nvSpPr>
        <p:spPr>
          <a:xfrm>
            <a:off x="6126479" y="2377440"/>
            <a:ext cx="4846320" cy="210312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468880"/>
            <a:ext cx="4480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C55A11"/>
                </a:solidFill>
                <a:latin typeface="Cambria"/>
              </a:rPr>
              <a:t>Bivariate analysis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Explores the association between two variables in a sample and makes inferences about their relationship in the population.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D6A99"/>
                </a:solidFill>
                <a:latin typeface="Cambria"/>
              </a:rPr>
              <a:t>Parameter: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characteristics of the population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D6A99"/>
                </a:solidFill>
                <a:latin typeface="Cambria"/>
              </a:rPr>
              <a:t>Descriptive statistics: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characteristics of the sample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D6A99"/>
                </a:solidFill>
                <a:latin typeface="Cambria"/>
              </a:rPr>
              <a:t>Inferential statistics: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predictions about the population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Association ≠ Causation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Association: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a systematic pattern between variables; the values of one variable tend to go with the values of the other.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Causation: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a change in X produces/causes a change in Y.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Association: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a change in X coincides with a change in Y.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Correlation is more specific: it measures the strength of association between two variables.</a:t>
            </a:r>
          </a:p>
        </p:txBody>
      </p:sp>
      <p:pic>
        <p:nvPicPr>
          <p:cNvPr id="8" name="Causal order illustration" descr="cau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4572000" cy="23888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66344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Hot weather causes both ice cream sales and sunburns, so the two are associated without one causing the other.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Three measures of association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2377440"/>
          <a:ext cx="996696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840480"/>
                <a:gridCol w="393192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Measure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Question it answers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Tool for two categorical variables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Direction / pattern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Do Y and X go together? Which group is more likely?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Contingency tables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Strength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To what extent does Y go with X?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Roughly: % point difference (precisely: odds ratio, risk ratio)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Statistical significance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Does the association in the sample hold in the population?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Chi-squared tests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" y="489204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Which method to use depends on the levels of measurement: 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bivariate categorical data, bivariate numerical data, or categorical and numerical variables (not the focus of this course).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49377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3D6A99"/>
                </a:solidFill>
                <a:latin typeface="Cambria"/>
              </a:rPr>
              <a:t>1. Direction / Pattern: Contingency Tables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A contingency table displays 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joint frequency distribution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of two categorical variables.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i.e., the number of observations falling under different combinations of the possible categories.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It shows the distribution of one variable contingent on the other.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Also called cross tabulations or cross-tabs.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D6A99"/>
                </a:solidFill>
                <a:latin typeface="Cambria"/>
              </a:rPr>
              <a:t>Contingency table of sex and housework (N = 200)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331720"/>
          <a:ext cx="475488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005840"/>
                <a:gridCol w="1005840"/>
                <a:gridCol w="1005840"/>
              </a:tblGrid>
              <a:tr h="4343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Male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Female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Total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Housework (yes)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50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70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Housework (no)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80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50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130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04040"/>
                          </a:solidFill>
                          <a:latin typeface="Cambria"/>
                        </a:rPr>
                        <a:t>Total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100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100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mbria"/>
                        </a:rPr>
                        <a:t>200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Column and row percentages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Column % = cell ÷ column total × 100%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51560" y="2743200"/>
          <a:ext cx="484632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1325880"/>
                <a:gridCol w="1325880"/>
                <a:gridCol w="1371600"/>
              </a:tblGrid>
              <a:tr h="4343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Male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Female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Total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Yes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20 (20%)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50 (50%)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70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No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80 (80%)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50 (50%)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130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Total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100 (100%)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100 (100%)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200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" y="45720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404040"/>
                </a:solidFill>
                <a:latin typeface="Cambria"/>
              </a:rPr>
              <a:t>Distribution of housework, contingent on sex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23317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Row % = cell ÷ row total × 100%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79" y="2743200"/>
          <a:ext cx="484632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1325880"/>
                <a:gridCol w="1325880"/>
                <a:gridCol w="1371600"/>
              </a:tblGrid>
              <a:tr h="4343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Male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Female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Total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Yes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20 (28.6%)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50 (71.4%)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70 (100%)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No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80 (61.5%)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50 (38.5%)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130 (100%)</a:t>
                      </a:r>
                    </a:p>
                  </a:txBody>
                  <a:tcPr anchor="ctr" marL="73152" marR="73152" marT="36576" marB="36576">
                    <a:solidFill>
                      <a:srgbClr val="FDF1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Cambria"/>
                        </a:rPr>
                        <a:t>Total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100 (50%)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100 (50%)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mbria"/>
                        </a:rPr>
                        <a:t>200 (100%)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26479" y="45720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404040"/>
                </a:solidFill>
                <a:latin typeface="Cambria"/>
              </a:rPr>
              <a:t>Distribution of sex, contingent on housework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12064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Which is better? It depends on your X. Sex is X and is in the column, so column percentages are more appropriate here.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How to analyze a contingency table</a:t>
            </a:r>
          </a:p>
        </p:txBody>
      </p:sp>
      <p:sp>
        <p:nvSpPr>
          <p:cNvPr id="8" name="Step 1 circle"/>
          <p:cNvSpPr/>
          <p:nvPr/>
        </p:nvSpPr>
        <p:spPr>
          <a:xfrm>
            <a:off x="1051560" y="2423160"/>
            <a:ext cx="640080" cy="640080"/>
          </a:xfrm>
          <a:prstGeom prst="ellipse">
            <a:avLst/>
          </a:prstGeom>
          <a:solidFill>
            <a:srgbClr val="D5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55A11"/>
                </a:solidFill>
                <a:latin typeface="Cambria"/>
              </a:rPr>
              <a:t>Identify X and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Which is the cause, and which is the effect?</a:t>
            </a:r>
          </a:p>
        </p:txBody>
      </p:sp>
      <p:sp>
        <p:nvSpPr>
          <p:cNvPr id="11" name="Step 2 circle"/>
          <p:cNvSpPr/>
          <p:nvPr/>
        </p:nvSpPr>
        <p:spPr>
          <a:xfrm>
            <a:off x="4434840" y="2423160"/>
            <a:ext cx="640080" cy="640080"/>
          </a:xfrm>
          <a:prstGeom prst="ellipse">
            <a:avLst/>
          </a:prstGeom>
          <a:solidFill>
            <a:srgbClr val="D5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42316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55A11"/>
                </a:solidFill>
                <a:latin typeface="Cambria"/>
              </a:rPr>
              <a:t>Calculate % along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5468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X in the row </a:t>
            </a:r>
            <a:r>
              <a:rPr sz="1400" b="0">
                <a:solidFill>
                  <a:srgbClr val="404040"/>
                </a:solidFill>
                <a:latin typeface="Arial"/>
              </a:rPr>
              <a:t>→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 row %; X in the column </a:t>
            </a:r>
            <a:r>
              <a:rPr sz="1400" b="0">
                <a:solidFill>
                  <a:srgbClr val="404040"/>
                </a:solidFill>
                <a:latin typeface="Arial"/>
              </a:rPr>
              <a:t>→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 column %. Each category of X adds up to 100%.</a:t>
            </a:r>
          </a:p>
        </p:txBody>
      </p:sp>
      <p:sp>
        <p:nvSpPr>
          <p:cNvPr id="14" name="Step 3 circle"/>
          <p:cNvSpPr/>
          <p:nvPr/>
        </p:nvSpPr>
        <p:spPr>
          <a:xfrm>
            <a:off x="7818120" y="2423160"/>
            <a:ext cx="640080" cy="640080"/>
          </a:xfrm>
          <a:prstGeom prst="ellipse">
            <a:avLst/>
          </a:prstGeom>
          <a:solidFill>
            <a:srgbClr val="D5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2316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55A11"/>
                </a:solidFill>
                <a:latin typeface="Cambria"/>
              </a:rPr>
              <a:t>Compare across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15468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Compare the percentages across the categories of X.</a:t>
            </a:r>
          </a:p>
        </p:txBody>
      </p:sp>
      <p:sp>
        <p:nvSpPr>
          <p:cNvPr id="17" name="Example card"/>
          <p:cNvSpPr/>
          <p:nvPr/>
        </p:nvSpPr>
        <p:spPr>
          <a:xfrm>
            <a:off x="1051560" y="4343400"/>
            <a:ext cx="9966960" cy="128016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8912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Who is more likely to do housework?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Female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  50% − 20% = 30% points difference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Who is more likely NOT to do housework?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Male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  80% − 50% = 30% points difference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Interpreting strength: rule of thumb (not a precise measure!)</a:t>
            </a:r>
          </a:p>
        </p:txBody>
      </p:sp>
      <p:sp>
        <p:nvSpPr>
          <p:cNvPr id="8" name="Band 0–9"/>
          <p:cNvSpPr/>
          <p:nvPr/>
        </p:nvSpPr>
        <p:spPr>
          <a:xfrm>
            <a:off x="1051560" y="2423160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BF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3154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262626"/>
                </a:solidFill>
                <a:latin typeface="Cambria"/>
              </a:rPr>
              <a:t>0–9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9184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% points: little to no association</a:t>
            </a:r>
          </a:p>
        </p:txBody>
      </p:sp>
      <p:sp>
        <p:nvSpPr>
          <p:cNvPr id="11" name="Band 10–30"/>
          <p:cNvSpPr/>
          <p:nvPr/>
        </p:nvSpPr>
        <p:spPr>
          <a:xfrm>
            <a:off x="4434840" y="2423160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6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68880"/>
            <a:ext cx="3154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262626"/>
                </a:solidFill>
                <a:latin typeface="Cambria"/>
              </a:rPr>
              <a:t>10–30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9184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% points: moderate association</a:t>
            </a:r>
          </a:p>
        </p:txBody>
      </p:sp>
      <p:sp>
        <p:nvSpPr>
          <p:cNvPr id="14" name="Band 31+"/>
          <p:cNvSpPr/>
          <p:nvPr/>
        </p:nvSpPr>
        <p:spPr>
          <a:xfrm>
            <a:off x="7818120" y="2423160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2C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468880"/>
            <a:ext cx="3154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262626"/>
                </a:solidFill>
                <a:latin typeface="Cambria"/>
              </a:rPr>
              <a:t>31+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29184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% points: strong association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51960"/>
            <a:ext cx="9966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Example: 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Among all the males, 20% did housework yesterday. Among all the females, 50% did. There is a 30% points difference.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Interpretation: 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There is a moderate to strong association between biological sex and doing housework (strength). Females are more likely to do housework than males (pattern).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54864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Significance: the Chi-squared test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Compares 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observed frequency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(f₀, our table) to the </a:t>
            </a:r>
            <a:r>
              <a:rPr sz="1400" b="1" i="0">
                <a:solidFill>
                  <a:srgbClr val="C00000"/>
                </a:solidFill>
                <a:latin typeface="Cambria"/>
              </a:rPr>
              <a:t>expected frequency</a:t>
            </a:r>
            <a:r>
              <a:rPr sz="1400" b="1" i="0">
                <a:solidFill>
                  <a:srgbClr val="404040"/>
                </a:solidFill>
                <a:latin typeface="Cambria"/>
              </a:rPr>
              <a:t> (fₑ, what would happen if the two variables were independent).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fₑ = (Row Total × Column Total) ÷ Grand Total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df = (# of rows − 1)(# of columns − 1)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Try it: 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expected count for Male &amp; Housework (yes) = 70 × 100 ÷ 200 = 35. We observed 20, so the gap is 15.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mbria"/>
              </a:rPr>
              <a:t>It is a one-tailed test: is the difference “greater than” a critical value? (3.841 for df = 1, alpha = 0.05)</a:t>
            </a:r>
          </a:p>
        </p:txBody>
      </p:sp>
      <p:pic>
        <p:nvPicPr>
          <p:cNvPr id="8" name="Chi-squared curve" descr="chicur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377440"/>
            <a:ext cx="4251960" cy="19142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4 Steps of Chi-squared Tests, with R</a:t>
            </a:r>
          </a:p>
        </p:txBody>
      </p:sp>
      <p:sp>
        <p:nvSpPr>
          <p:cNvPr id="8" name="Step 1"/>
          <p:cNvSpPr/>
          <p:nvPr/>
        </p:nvSpPr>
        <p:spPr>
          <a:xfrm>
            <a:off x="1051560" y="2331720"/>
            <a:ext cx="9966960" cy="82296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59151"/>
            <a:ext cx="31089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(1) Construct H0 and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59151"/>
            <a:ext cx="6583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H0: There is no relationship between the two variables in the population, i.e. they are independent.  H1: There is an association between the two variables in the population, i.e. they are not independent.</a:t>
            </a:r>
          </a:p>
        </p:txBody>
      </p:sp>
      <p:sp>
        <p:nvSpPr>
          <p:cNvPr id="11" name="Step 2"/>
          <p:cNvSpPr/>
          <p:nvPr/>
        </p:nvSpPr>
        <p:spPr>
          <a:xfrm>
            <a:off x="1051560" y="3264408"/>
            <a:ext cx="9966960" cy="822960"/>
          </a:xfrm>
          <a:prstGeom prst="roundRect">
            <a:avLst>
              <a:gd name="adj" fmla="val 8000"/>
            </a:avLst>
          </a:prstGeom>
          <a:solidFill>
            <a:srgbClr val="FA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39"/>
            <a:ext cx="31089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(2) Get the p-value from the R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91839"/>
            <a:ext cx="6583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P-value in chi2 test = the probability of independence.</a:t>
            </a:r>
          </a:p>
        </p:txBody>
      </p:sp>
      <p:sp>
        <p:nvSpPr>
          <p:cNvPr id="14" name="Step 3"/>
          <p:cNvSpPr/>
          <p:nvPr/>
        </p:nvSpPr>
        <p:spPr>
          <a:xfrm>
            <a:off x="1051560" y="4197096"/>
            <a:ext cx="9966960" cy="82296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24528"/>
            <a:ext cx="31089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(3) Compare p-value to the alpha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224528"/>
            <a:ext cx="6583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Usually 0.05 (or 0.01).</a:t>
            </a:r>
          </a:p>
        </p:txBody>
      </p:sp>
      <p:sp>
        <p:nvSpPr>
          <p:cNvPr id="17" name="Step 4"/>
          <p:cNvSpPr/>
          <p:nvPr/>
        </p:nvSpPr>
        <p:spPr>
          <a:xfrm>
            <a:off x="1051560" y="5129783"/>
            <a:ext cx="9966960" cy="822960"/>
          </a:xfrm>
          <a:prstGeom prst="roundRect">
            <a:avLst>
              <a:gd name="adj" fmla="val 8000"/>
            </a:avLst>
          </a:prstGeom>
          <a:solidFill>
            <a:srgbClr val="FA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57216"/>
            <a:ext cx="31089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Cambria"/>
              </a:rPr>
              <a:t>(4) Make a decision about H0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157216"/>
            <a:ext cx="6583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mbria"/>
              </a:rPr>
              <a:t>P-value &lt; 0.05: reject H0, the variables are associated.  P-value &gt;= 0.05: failed to reject H0, the variables are independent.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Worked example: sex and housework</a:t>
            </a:r>
          </a:p>
        </p:txBody>
      </p:sp>
      <p:sp>
        <p:nvSpPr>
          <p:cNvPr id="8" name="Code block"/>
          <p:cNvSpPr/>
          <p:nvPr/>
        </p:nvSpPr>
        <p:spPr>
          <a:xfrm>
            <a:off x="1051560" y="2331720"/>
            <a:ext cx="512064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text"/>
          <p:cNvSpPr txBox="1"/>
          <p:nvPr/>
        </p:nvSpPr>
        <p:spPr>
          <a:xfrm>
            <a:off x="1143000" y="2377439"/>
            <a:ext cx="493775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&gt; chisq.test(df$housework, df$sex, correct=FALSE)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        Pearson's Chi-squared test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data: df$housework and df$sex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X-squared = 19.78, df = 1, p-value = 8.688e-06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86200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Cambria"/>
              </a:rPr>
              <a:t>(1) 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H0: no relationship between sex and doing housework in the population. H1: there is an association.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Cambria"/>
              </a:rPr>
              <a:t>(2) 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p-value = 0.000008688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Cambria"/>
              </a:rPr>
              <a:t>(3) 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0.000008688 &lt;&lt; 0.05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Cambria"/>
              </a:rPr>
              <a:t>(4) </a:t>
            </a:r>
            <a:r>
              <a:rPr sz="1300" b="0" i="0">
                <a:solidFill>
                  <a:srgbClr val="404040"/>
                </a:solidFill>
                <a:latin typeface="Cambria"/>
              </a:rPr>
              <a:t>Reject H0.</a:t>
            </a:r>
          </a:p>
        </p:txBody>
      </p:sp>
      <p:sp>
        <p:nvSpPr>
          <p:cNvPr id="11" name="Three measures card"/>
          <p:cNvSpPr/>
          <p:nvPr/>
        </p:nvSpPr>
        <p:spPr>
          <a:xfrm>
            <a:off x="6446520" y="2331720"/>
            <a:ext cx="4572000" cy="274320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4206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C55A11"/>
                </a:solidFill>
                <a:latin typeface="Cambria"/>
              </a:rPr>
              <a:t>Interpret the three measures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1. Pattern: 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Females are more likely to do housework than males.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2. Strength: 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Moderate to strong (30% points).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04040"/>
                </a:solidFill>
                <a:latin typeface="Cambria"/>
              </a:rPr>
              <a:t>3. Significance: </a:t>
            </a:r>
            <a:r>
              <a:rPr sz="1400" b="0" i="0">
                <a:solidFill>
                  <a:srgbClr val="404040"/>
                </a:solidFill>
                <a:latin typeface="Cambria"/>
              </a:rPr>
              <a:t>p &lt; 0.05, the association is statistically significant in the population.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Finally, write a summary.  Template: </a:t>
            </a:r>
            <a:r>
              <a:rPr sz="1800" b="1" i="0">
                <a:solidFill>
                  <a:srgbClr val="C00000"/>
                </a:solidFill>
                <a:latin typeface="Cambria"/>
              </a:rPr>
              <a:t>strength + pattern + significance</a:t>
            </a:r>
          </a:p>
        </p:txBody>
      </p:sp>
      <p:sp>
        <p:nvSpPr>
          <p:cNvPr id="8" name="Summary example card"/>
          <p:cNvSpPr/>
          <p:nvPr/>
        </p:nvSpPr>
        <p:spPr>
          <a:xfrm>
            <a:off x="1051560" y="2468880"/>
            <a:ext cx="9966960" cy="265176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950976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mbria"/>
              </a:rPr>
              <a:t>Our sample data indicates that there is a </a:t>
            </a:r>
            <a:r>
              <a:rPr sz="1600" b="1" i="0">
                <a:solidFill>
                  <a:srgbClr val="C55A11"/>
                </a:solidFill>
                <a:latin typeface="Cambria"/>
              </a:rPr>
              <a:t>moderate to strong association [strength]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 between sex and the habit of doing housework. Particularly, </a:t>
            </a:r>
            <a:r>
              <a:rPr sz="1600" b="1" i="0">
                <a:solidFill>
                  <a:srgbClr val="C55A11"/>
                </a:solidFill>
                <a:latin typeface="Cambria"/>
              </a:rPr>
              <a:t>females are more likely to do housework than males [pattern]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. A chi-squared test shows that </a:t>
            </a:r>
            <a:r>
              <a:rPr sz="1600" b="1" i="0">
                <a:solidFill>
                  <a:srgbClr val="C55A11"/>
                </a:solidFill>
                <a:latin typeface="Cambria"/>
              </a:rPr>
              <a:t>this association is statistically significant in the population at the 0.05 significance level, with a p-value of 0.0000087 [significance]</a:t>
            </a:r>
            <a:r>
              <a:rPr sz="1600" b="1" i="0">
                <a:solidFill>
                  <a:srgbClr val="404040"/>
                </a:solidFill>
                <a:latin typeface="Cambria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30352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0000"/>
                </a:solidFill>
                <a:latin typeface="Cambria"/>
              </a:rPr>
              <a:t>This is the exact structure HW9 Q7 asks for.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Lecture 12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830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D6A99"/>
                </a:solidFill>
                <a:latin typeface="Cambria"/>
              </a:rPr>
              <a:t>Recap: Bivariate Categorical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2331720"/>
          <a:ext cx="996696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108960"/>
                <a:gridCol w="251460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Association between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Direction / pattern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Strength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Significance</a:t>
                      </a:r>
                    </a:p>
                  </a:txBody>
                  <a:tcPr anchor="ctr" marL="73152" marR="73152" marT="36576" marB="36576">
                    <a:solidFill>
                      <a:srgbClr val="D5873A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Cambria"/>
                        </a:rPr>
                        <a:t>Two categorical variables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mbria"/>
                        </a:rPr>
                        <a:t>Contingency table: which one is X and which is Y? Calculate row or col % along X. Compare % point difference across X categories.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mbria"/>
                        </a:rPr>
                        <a:t>Roughly: % point difference. Precisely: odds ratio, relative risks, etc. (advanced stats course)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mbria"/>
                        </a:rPr>
                        <a:t>Chi-squared test: p-value &gt;= 0.05: no association. p-value &lt; 0.05: significant association.</a:t>
                      </a:r>
                    </a:p>
                  </a:txBody>
                  <a:tcPr anchor="ctr" marL="73152" marR="73152" marT="36576" marB="36576">
                    <a:solidFill>
                      <a:srgbClr val="FAE3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Your Understanding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07DB-3A4B-4CB0-95A5-1F0383B6F4B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Review icon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566928" cy="591835"/>
          </a:xfrm>
          <a:prstGeom prst="rect">
            <a:avLst/>
          </a:prstGeom>
        </p:spPr>
      </p:pic>
      <p:sp>
        <p:nvSpPr>
          <p:cNvPr id="7" name="Q1 circle"/>
          <p:cNvSpPr/>
          <p:nvPr/>
        </p:nvSpPr>
        <p:spPr>
          <a:xfrm>
            <a:off x="1051560" y="2121408"/>
            <a:ext cx="640080" cy="640080"/>
          </a:xfrm>
          <a:prstGeom prst="ellipse">
            <a:avLst/>
          </a:prstGeom>
          <a:solidFill>
            <a:srgbClr val="D5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28800"/>
            <a:ext cx="9144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In table(gss$sex, gss$happy), which variable is in the rows, and which percentages would you use if sex is X?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3D6A99"/>
                </a:solidFill>
                <a:latin typeface="Cambria"/>
              </a:rPr>
              <a:t>Hint: Think: 1st variable in table() = ?</a:t>
            </a:r>
          </a:p>
        </p:txBody>
      </p:sp>
      <p:sp>
        <p:nvSpPr>
          <p:cNvPr id="9" name="Q2 circle"/>
          <p:cNvSpPr/>
          <p:nvPr/>
        </p:nvSpPr>
        <p:spPr>
          <a:xfrm>
            <a:off x="1051560" y="3493008"/>
            <a:ext cx="640080" cy="640080"/>
          </a:xfrm>
          <a:prstGeom prst="ellipse">
            <a:avLst/>
          </a:prstGeom>
          <a:solidFill>
            <a:srgbClr val="D5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200400"/>
            <a:ext cx="9144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A chi-squared test gives p-value = 0.32. What is your decision about H0 at the 0.05 level?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3D6A99"/>
                </a:solidFill>
                <a:latin typeface="Cambria"/>
              </a:rPr>
              <a:t>Hint: Compare p to alpha</a:t>
            </a:r>
          </a:p>
        </p:txBody>
      </p:sp>
      <p:sp>
        <p:nvSpPr>
          <p:cNvPr id="11" name="Q3 circle"/>
          <p:cNvSpPr/>
          <p:nvPr/>
        </p:nvSpPr>
        <p:spPr>
          <a:xfrm>
            <a:off x="1051560" y="4864608"/>
            <a:ext cx="640080" cy="640080"/>
          </a:xfrm>
          <a:prstGeom prst="ellipse">
            <a:avLst/>
          </a:prstGeom>
          <a:solidFill>
            <a:srgbClr val="D5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572000"/>
            <a:ext cx="9144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04040"/>
                </a:solidFill>
                <a:latin typeface="Cambria"/>
              </a:rPr>
              <a:t>In the housework table, what is the expected count for Female &amp; Housework (yes)?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3D6A99"/>
                </a:solidFill>
                <a:latin typeface="Cambria"/>
              </a:rPr>
              <a:t>Hint: fₑ = row total × column total ÷ grand total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a1855b2-0a05-4494-a903-f3f23f3f98e0}" enabled="1" method="Standard" siteId="{6f60f0b3-5f06-4e09-9715-989dba8cc7d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15244</TotalTime>
  <Words>3237</Words>
  <Application>Microsoft Office PowerPoint</Application>
  <PresentationFormat>Widescreen</PresentationFormat>
  <Paragraphs>374</Paragraphs>
  <Slides>52</Slides>
  <Notes>44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Retrospect</vt:lpstr>
      <vt:lpstr>Lab Section #6: Midterm Review</vt:lpstr>
      <vt:lpstr>Today’s Content</vt:lpstr>
      <vt:lpstr>PowerPoint Presentation</vt:lpstr>
      <vt:lpstr>Demonstration of HW5</vt:lpstr>
      <vt:lpstr>Demonstration of HW5</vt:lpstr>
      <vt:lpstr>HW5: From Counts to Proportions</vt:lpstr>
      <vt:lpstr>HW5: From Proportion to Percentages</vt:lpstr>
      <vt:lpstr>HW5: Boxplot</vt:lpstr>
      <vt:lpstr>HW5: Boxplot</vt:lpstr>
      <vt:lpstr>HW5: Question 1</vt:lpstr>
      <vt:lpstr>HW5: Question 2</vt:lpstr>
      <vt:lpstr>HW5: Question 3</vt:lpstr>
      <vt:lpstr>HW5: Question 4</vt:lpstr>
      <vt:lpstr>HW5: Question 5</vt:lpstr>
      <vt:lpstr>HW5: Question 6</vt:lpstr>
      <vt:lpstr>PowerPoint Presentation</vt:lpstr>
      <vt:lpstr>Academic Integrity</vt:lpstr>
      <vt:lpstr>Academic Integrity</vt:lpstr>
      <vt:lpstr>Midterm Exam Information</vt:lpstr>
      <vt:lpstr>Review: Posit Cloud</vt:lpstr>
      <vt:lpstr>Review: Posit Cloud</vt:lpstr>
      <vt:lpstr>Review: R Markdown Files</vt:lpstr>
      <vt:lpstr>Posit Cloud Pro Tip</vt:lpstr>
      <vt:lpstr>Final Reminders on Posit Cloud</vt:lpstr>
      <vt:lpstr>PowerPoint Presentation</vt:lpstr>
      <vt:lpstr>Review: Week 2 Concepts</vt:lpstr>
      <vt:lpstr>Review: Week 2 Concepts</vt:lpstr>
      <vt:lpstr>Review: Week 2 Concepts</vt:lpstr>
      <vt:lpstr>Review: Week 3 Concepts</vt:lpstr>
      <vt:lpstr>Review: Week 3 Concepts</vt:lpstr>
      <vt:lpstr>Review: Week 4 Concepts</vt:lpstr>
      <vt:lpstr>Review: Week 4 Concepts</vt:lpstr>
      <vt:lpstr>Review: Week 4 Concepts</vt:lpstr>
      <vt:lpstr>Review: Week 4 Concepts</vt:lpstr>
      <vt:lpstr>Review: Week 4 Concepts</vt:lpstr>
      <vt:lpstr>Review: Week 4 Concepts</vt:lpstr>
      <vt:lpstr>Review: Week 4 Concepts</vt:lpstr>
      <vt:lpstr>Review: Week 4 Concepts</vt:lpstr>
      <vt:lpstr>Review: Week 4 Concepts</vt:lpstr>
      <vt:lpstr>Review: Week 4 Concepts</vt:lpstr>
      <vt:lpstr>Review: Week 5 Concepts</vt:lpstr>
      <vt:lpstr>Review: Week 5 Concepts</vt:lpstr>
      <vt:lpstr>Review: Week 5 Concepts</vt:lpstr>
      <vt:lpstr>Review: Week 5 Concepts</vt:lpstr>
      <vt:lpstr>Review: Week 5 Concepts</vt:lpstr>
      <vt:lpstr>Review: Week 5 Concepts</vt:lpstr>
      <vt:lpstr>Review: Week 5 Concepts</vt:lpstr>
      <vt:lpstr>Review: Week 5 Concepts</vt:lpstr>
      <vt:lpstr>Review: Week 6 Concepts</vt:lpstr>
      <vt:lpstr>Review: Week 6 Concepts</vt:lpstr>
      <vt:lpstr>PowerPoint Presentation</vt:lpstr>
      <vt:lpstr>Review: Week 6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 Data 765</dc:title>
  <dc:creator>Yinxian Zhang</dc:creator>
  <cp:lastModifiedBy>Yinxian Zhang</cp:lastModifiedBy>
  <cp:revision>635</cp:revision>
  <dcterms:created xsi:type="dcterms:W3CDTF">2021-02-03T04:56:58Z</dcterms:created>
  <dcterms:modified xsi:type="dcterms:W3CDTF">2026-10-07T17:25:35Z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a1855b2-0a05-4494-a903-f3f23f3f98e0_Enabled">
    <vt:lpwstr>true</vt:lpwstr>
  </property>
  <property fmtid="{D5CDD505-2E9C-101B-9397-08002B2CF9AE}" pid="3" name="MSIP_Label_fa1855b2-0a05-4494-a903-f3f23f3f98e0_SetDate">
    <vt:lpwstr>2022-08-24T21:41:29Z</vt:lpwstr>
  </property>
  <property fmtid="{D5CDD505-2E9C-101B-9397-08002B2CF9AE}" pid="4" name="MSIP_Label_fa1855b2-0a05-4494-a903-f3f23f3f98e0_Method">
    <vt:lpwstr>Standard</vt:lpwstr>
  </property>
  <property fmtid="{D5CDD505-2E9C-101B-9397-08002B2CF9AE}" pid="5" name="MSIP_Label_fa1855b2-0a05-4494-a903-f3f23f3f98e0_Name">
    <vt:lpwstr>defa4170-0d19-0005-0004-bc88714345d2</vt:lpwstr>
  </property>
  <property fmtid="{D5CDD505-2E9C-101B-9397-08002B2CF9AE}" pid="6" name="MSIP_Label_fa1855b2-0a05-4494-a903-f3f23f3f98e0_SiteId">
    <vt:lpwstr>6f60f0b3-5f06-4e09-9715-989dba8cc7d8</vt:lpwstr>
  </property>
  <property fmtid="{D5CDD505-2E9C-101B-9397-08002B2CF9AE}" pid="7" name="MSIP_Label_fa1855b2-0a05-4494-a903-f3f23f3f98e0_ActionId">
    <vt:lpwstr>e268cf34-758b-4cd9-9f6f-84b11f8b3068</vt:lpwstr>
  </property>
  <property fmtid="{D5CDD505-2E9C-101B-9397-08002B2CF9AE}" pid="8" name="MSIP_Label_fa1855b2-0a05-4494-a903-f3f23f3f98e0_ContentBits">
    <vt:lpwstr>0</vt:lpwstr>
  </property>
</Properties>
</file>