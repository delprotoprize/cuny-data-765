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3"/>
  </p:notesMasterIdLst>
  <p:sldIdLst>
    <p:sldId id="256" r:id="rId2"/>
    <p:sldId id="777" r:id="rId3"/>
    <p:sldId id="946" r:id="rId4"/>
    <p:sldId id="323" r:id="rId5"/>
    <p:sldId id="349" r:id="rId6"/>
    <p:sldId id="596" r:id="rId7"/>
    <p:sldId id="751" r:id="rId8"/>
    <p:sldId id="552" r:id="rId9"/>
    <p:sldId id="307" r:id="rId10"/>
    <p:sldId id="335" r:id="rId11"/>
    <p:sldId id="750" r:id="rId12"/>
    <p:sldId id="782" r:id="rId13"/>
    <p:sldId id="553" r:id="rId14"/>
    <p:sldId id="655" r:id="rId15"/>
    <p:sldId id="554" r:id="rId16"/>
    <p:sldId id="753" r:id="rId17"/>
    <p:sldId id="752" r:id="rId18"/>
    <p:sldId id="601" r:id="rId19"/>
    <p:sldId id="657" r:id="rId20"/>
    <p:sldId id="754" r:id="rId21"/>
    <p:sldId id="602" r:id="rId22"/>
    <p:sldId id="764" r:id="rId23"/>
    <p:sldId id="606" r:id="rId24"/>
    <p:sldId id="944" r:id="rId25"/>
    <p:sldId id="901" r:id="rId26"/>
    <p:sldId id="495" r:id="rId27"/>
    <p:sldId id="939" r:id="rId28"/>
    <p:sldId id="608" r:id="rId29"/>
    <p:sldId id="610" r:id="rId30"/>
    <p:sldId id="894" r:id="rId31"/>
    <p:sldId id="614" r:id="rId32"/>
    <p:sldId id="660" r:id="rId33"/>
    <p:sldId id="669" r:id="rId34"/>
    <p:sldId id="895" r:id="rId35"/>
    <p:sldId id="670" r:id="rId36"/>
    <p:sldId id="896" r:id="rId37"/>
    <p:sldId id="390" r:id="rId38"/>
    <p:sldId id="917" r:id="rId39"/>
    <p:sldId id="945" r:id="rId40"/>
    <p:sldId id="647" r:id="rId41"/>
    <p:sldId id="270" r:id="rId42"/>
  </p:sldIdLst>
  <p:sldSz cx="12192000" cy="6858000"/>
  <p:notesSz cx="6858000" cy="9144000"/>
  <p:defaultTextStyle>
    <a:defPPr>
      <a:defRPr lang="en-US"/>
    </a:defPPr>
    <a:lvl1pPr marL="0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8312"/>
    <a:srgbClr val="F7CE9D"/>
    <a:srgbClr val="ADC8DD"/>
    <a:srgbClr val="0099FF"/>
    <a:srgbClr val="EABAA5"/>
    <a:srgbClr val="EBD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BE81F2-9BD0-42E2-AF10-87CFDB7052C7}" v="392" dt="2026-04-28T20:43:59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6" autoAdjust="0"/>
    <p:restoredTop sz="94161" autoAdjust="0"/>
  </p:normalViewPr>
  <p:slideViewPr>
    <p:cSldViewPr snapToGrid="0">
      <p:cViewPr varScale="1">
        <p:scale>
          <a:sx n="106" d="100"/>
          <a:sy n="106" d="100"/>
        </p:scale>
        <p:origin x="45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xian Zhang" userId="6e5d5777-4e08-4bd8-a63a-60f3eec90bfb" providerId="ADAL" clId="{345FD05F-A501-4160-A83F-FF9DC4A2DCA5}"/>
    <pc:docChg chg="delSld modSld">
      <pc:chgData name="Yinxian Zhang" userId="6e5d5777-4e08-4bd8-a63a-60f3eec90bfb" providerId="ADAL" clId="{345FD05F-A501-4160-A83F-FF9DC4A2DCA5}" dt="2026-04-28T20:43:59.821" v="530" actId="20577"/>
      <pc:docMkLst>
        <pc:docMk/>
      </pc:docMkLst>
      <pc:sldChg chg="modSp mod">
        <pc:chgData name="Yinxian Zhang" userId="6e5d5777-4e08-4bd8-a63a-60f3eec90bfb" providerId="ADAL" clId="{345FD05F-A501-4160-A83F-FF9DC4A2DCA5}" dt="2026-04-28T18:11:01.616" v="2" actId="20577"/>
        <pc:sldMkLst>
          <pc:docMk/>
          <pc:sldMk cId="3640744156" sldId="256"/>
        </pc:sldMkLst>
        <pc:spChg chg="mod">
          <ac:chgData name="Yinxian Zhang" userId="6e5d5777-4e08-4bd8-a63a-60f3eec90bfb" providerId="ADAL" clId="{345FD05F-A501-4160-A83F-FF9DC4A2DCA5}" dt="2026-04-28T18:11:01.616" v="2" actId="20577"/>
          <ac:spMkLst>
            <pc:docMk/>
            <pc:sldMk cId="3640744156" sldId="256"/>
            <ac:spMk id="2" creationId="{C012CFFC-9346-4097-ADDD-A3709E8990EB}"/>
          </ac:spMkLst>
        </pc:spChg>
      </pc:sldChg>
      <pc:sldChg chg="modSp mod">
        <pc:chgData name="Yinxian Zhang" userId="6e5d5777-4e08-4bd8-a63a-60f3eec90bfb" providerId="ADAL" clId="{345FD05F-A501-4160-A83F-FF9DC4A2DCA5}" dt="2026-04-28T18:36:39.174" v="473" actId="20577"/>
        <pc:sldMkLst>
          <pc:docMk/>
          <pc:sldMk cId="2082678627" sldId="270"/>
        </pc:sldMkLst>
        <pc:spChg chg="mod">
          <ac:chgData name="Yinxian Zhang" userId="6e5d5777-4e08-4bd8-a63a-60f3eec90bfb" providerId="ADAL" clId="{345FD05F-A501-4160-A83F-FF9DC4A2DCA5}" dt="2026-04-28T18:36:39.174" v="473" actId="20577"/>
          <ac:spMkLst>
            <pc:docMk/>
            <pc:sldMk cId="2082678627" sldId="270"/>
            <ac:spMk id="3" creationId="{703A1F90-FFDA-4E62-A42A-7BFFC78F37A0}"/>
          </ac:spMkLst>
        </pc:spChg>
      </pc:sldChg>
      <pc:sldChg chg="modSp">
        <pc:chgData name="Yinxian Zhang" userId="6e5d5777-4e08-4bd8-a63a-60f3eec90bfb" providerId="ADAL" clId="{345FD05F-A501-4160-A83F-FF9DC4A2DCA5}" dt="2026-04-28T18:14:13.254" v="61" actId="115"/>
        <pc:sldMkLst>
          <pc:docMk/>
          <pc:sldMk cId="2871654052" sldId="307"/>
        </pc:sldMkLst>
        <pc:graphicFrameChg chg="mod">
          <ac:chgData name="Yinxian Zhang" userId="6e5d5777-4e08-4bd8-a63a-60f3eec90bfb" providerId="ADAL" clId="{345FD05F-A501-4160-A83F-FF9DC4A2DCA5}" dt="2026-04-28T18:14:13.254" v="61" actId="115"/>
          <ac:graphicFrameMkLst>
            <pc:docMk/>
            <pc:sldMk cId="2871654052" sldId="307"/>
            <ac:graphicFrameMk id="5" creationId="{BA18A7A5-A119-221D-6D36-4BB6EBAF9EA6}"/>
          </ac:graphicFrameMkLst>
        </pc:graphicFrameChg>
      </pc:sldChg>
      <pc:sldChg chg="modSp mod">
        <pc:chgData name="Yinxian Zhang" userId="6e5d5777-4e08-4bd8-a63a-60f3eec90bfb" providerId="ADAL" clId="{345FD05F-A501-4160-A83F-FF9DC4A2DCA5}" dt="2026-04-28T18:31:29.702" v="439" actId="20577"/>
        <pc:sldMkLst>
          <pc:docMk/>
          <pc:sldMk cId="2491728853" sldId="495"/>
        </pc:sldMkLst>
        <pc:spChg chg="mod">
          <ac:chgData name="Yinxian Zhang" userId="6e5d5777-4e08-4bd8-a63a-60f3eec90bfb" providerId="ADAL" clId="{345FD05F-A501-4160-A83F-FF9DC4A2DCA5}" dt="2026-04-28T18:31:29.702" v="439" actId="20577"/>
          <ac:spMkLst>
            <pc:docMk/>
            <pc:sldMk cId="2491728853" sldId="495"/>
            <ac:spMk id="31747" creationId="{00000000-0000-0000-0000-000000000000}"/>
          </ac:spMkLst>
        </pc:spChg>
      </pc:sldChg>
      <pc:sldChg chg="modSp mod modAnim">
        <pc:chgData name="Yinxian Zhang" userId="6e5d5777-4e08-4bd8-a63a-60f3eec90bfb" providerId="ADAL" clId="{345FD05F-A501-4160-A83F-FF9DC4A2DCA5}" dt="2026-04-28T18:13:11.870" v="57" actId="20577"/>
        <pc:sldMkLst>
          <pc:docMk/>
          <pc:sldMk cId="2260117917" sldId="596"/>
        </pc:sldMkLst>
        <pc:spChg chg="mod">
          <ac:chgData name="Yinxian Zhang" userId="6e5d5777-4e08-4bd8-a63a-60f3eec90bfb" providerId="ADAL" clId="{345FD05F-A501-4160-A83F-FF9DC4A2DCA5}" dt="2026-04-28T18:13:11.870" v="57" actId="20577"/>
          <ac:spMkLst>
            <pc:docMk/>
            <pc:sldMk cId="2260117917" sldId="596"/>
            <ac:spMk id="32771" creationId="{00000000-0000-0000-0000-000000000000}"/>
          </ac:spMkLst>
        </pc:spChg>
      </pc:sldChg>
      <pc:sldChg chg="modSp">
        <pc:chgData name="Yinxian Zhang" userId="6e5d5777-4e08-4bd8-a63a-60f3eec90bfb" providerId="ADAL" clId="{345FD05F-A501-4160-A83F-FF9DC4A2DCA5}" dt="2026-04-28T18:23:16.112" v="264" actId="5793"/>
        <pc:sldMkLst>
          <pc:docMk/>
          <pc:sldMk cId="807969042" sldId="601"/>
        </pc:sldMkLst>
        <pc:spChg chg="mod">
          <ac:chgData name="Yinxian Zhang" userId="6e5d5777-4e08-4bd8-a63a-60f3eec90bfb" providerId="ADAL" clId="{345FD05F-A501-4160-A83F-FF9DC4A2DCA5}" dt="2026-04-28T18:23:16.112" v="264" actId="5793"/>
          <ac:spMkLst>
            <pc:docMk/>
            <pc:sldMk cId="807969042" sldId="601"/>
            <ac:spMk id="44035" creationId="{00000000-0000-0000-0000-000000000000}"/>
          </ac:spMkLst>
        </pc:spChg>
      </pc:sldChg>
      <pc:sldChg chg="modSp">
        <pc:chgData name="Yinxian Zhang" userId="6e5d5777-4e08-4bd8-a63a-60f3eec90bfb" providerId="ADAL" clId="{345FD05F-A501-4160-A83F-FF9DC4A2DCA5}" dt="2026-04-28T18:27:49.370" v="351" actId="1076"/>
        <pc:sldMkLst>
          <pc:docMk/>
          <pc:sldMk cId="4190254255" sldId="602"/>
        </pc:sldMkLst>
        <pc:spChg chg="mod">
          <ac:chgData name="Yinxian Zhang" userId="6e5d5777-4e08-4bd8-a63a-60f3eec90bfb" providerId="ADAL" clId="{345FD05F-A501-4160-A83F-FF9DC4A2DCA5}" dt="2026-04-28T18:27:49.370" v="351" actId="1076"/>
          <ac:spMkLst>
            <pc:docMk/>
            <pc:sldMk cId="4190254255" sldId="602"/>
            <ac:spMk id="556037" creationId="{00000000-0000-0000-0000-000000000000}"/>
          </ac:spMkLst>
        </pc:spChg>
      </pc:sldChg>
      <pc:sldChg chg="modSp mod">
        <pc:chgData name="Yinxian Zhang" userId="6e5d5777-4e08-4bd8-a63a-60f3eec90bfb" providerId="ADAL" clId="{345FD05F-A501-4160-A83F-FF9DC4A2DCA5}" dt="2026-04-28T20:41:09.158" v="528" actId="5793"/>
        <pc:sldMkLst>
          <pc:docMk/>
          <pc:sldMk cId="588470916" sldId="606"/>
        </pc:sldMkLst>
        <pc:spChg chg="mod">
          <ac:chgData name="Yinxian Zhang" userId="6e5d5777-4e08-4bd8-a63a-60f3eec90bfb" providerId="ADAL" clId="{345FD05F-A501-4160-A83F-FF9DC4A2DCA5}" dt="2026-04-28T20:41:09.158" v="528" actId="5793"/>
          <ac:spMkLst>
            <pc:docMk/>
            <pc:sldMk cId="588470916" sldId="606"/>
            <ac:spMk id="10243" creationId="{00000000-0000-0000-0000-000000000000}"/>
          </ac:spMkLst>
        </pc:spChg>
      </pc:sldChg>
      <pc:sldChg chg="modSp">
        <pc:chgData name="Yinxian Zhang" userId="6e5d5777-4e08-4bd8-a63a-60f3eec90bfb" providerId="ADAL" clId="{345FD05F-A501-4160-A83F-FF9DC4A2DCA5}" dt="2026-04-28T18:32:15.580" v="440" actId="13926"/>
        <pc:sldMkLst>
          <pc:docMk/>
          <pc:sldMk cId="14408560" sldId="608"/>
        </pc:sldMkLst>
        <pc:spChg chg="mod">
          <ac:chgData name="Yinxian Zhang" userId="6e5d5777-4e08-4bd8-a63a-60f3eec90bfb" providerId="ADAL" clId="{345FD05F-A501-4160-A83F-FF9DC4A2DCA5}" dt="2026-04-28T18:32:15.580" v="440" actId="13926"/>
          <ac:spMkLst>
            <pc:docMk/>
            <pc:sldMk cId="14408560" sldId="608"/>
            <ac:spMk id="15363" creationId="{00000000-0000-0000-0000-000000000000}"/>
          </ac:spMkLst>
        </pc:spChg>
      </pc:sldChg>
      <pc:sldChg chg="modSp mod modAnim">
        <pc:chgData name="Yinxian Zhang" userId="6e5d5777-4e08-4bd8-a63a-60f3eec90bfb" providerId="ADAL" clId="{345FD05F-A501-4160-A83F-FF9DC4A2DCA5}" dt="2026-04-28T18:19:29.681" v="229" actId="400"/>
        <pc:sldMkLst>
          <pc:docMk/>
          <pc:sldMk cId="4247055204" sldId="655"/>
        </pc:sldMkLst>
        <pc:spChg chg="mod">
          <ac:chgData name="Yinxian Zhang" userId="6e5d5777-4e08-4bd8-a63a-60f3eec90bfb" providerId="ADAL" clId="{345FD05F-A501-4160-A83F-FF9DC4A2DCA5}" dt="2026-04-28T18:19:29.681" v="229" actId="400"/>
          <ac:spMkLst>
            <pc:docMk/>
            <pc:sldMk cId="4247055204" sldId="655"/>
            <ac:spMk id="32771" creationId="{00000000-0000-0000-0000-000000000000}"/>
          </ac:spMkLst>
        </pc:spChg>
      </pc:sldChg>
      <pc:sldChg chg="modSp mod">
        <pc:chgData name="Yinxian Zhang" userId="6e5d5777-4e08-4bd8-a63a-60f3eec90bfb" providerId="ADAL" clId="{345FD05F-A501-4160-A83F-FF9DC4A2DCA5}" dt="2026-04-28T20:40:57.406" v="527" actId="20577"/>
        <pc:sldMkLst>
          <pc:docMk/>
          <pc:sldMk cId="42577042" sldId="657"/>
        </pc:sldMkLst>
        <pc:spChg chg="mod">
          <ac:chgData name="Yinxian Zhang" userId="6e5d5777-4e08-4bd8-a63a-60f3eec90bfb" providerId="ADAL" clId="{345FD05F-A501-4160-A83F-FF9DC4A2DCA5}" dt="2026-04-28T20:40:57.406" v="527" actId="20577"/>
          <ac:spMkLst>
            <pc:docMk/>
            <pc:sldMk cId="42577042" sldId="657"/>
            <ac:spMk id="5" creationId="{6BC0FCEC-DE09-777C-5A49-C6854798793F}"/>
          </ac:spMkLst>
        </pc:spChg>
        <pc:spChg chg="mod">
          <ac:chgData name="Yinxian Zhang" userId="6e5d5777-4e08-4bd8-a63a-60f3eec90bfb" providerId="ADAL" clId="{345FD05F-A501-4160-A83F-FF9DC4A2DCA5}" dt="2026-04-28T18:24:24.004" v="265" actId="1076"/>
          <ac:spMkLst>
            <pc:docMk/>
            <pc:sldMk cId="42577042" sldId="657"/>
            <ac:spMk id="7" creationId="{720C19AB-17A7-4CA8-A54A-A739692C470C}"/>
          </ac:spMkLst>
        </pc:spChg>
        <pc:spChg chg="mod">
          <ac:chgData name="Yinxian Zhang" userId="6e5d5777-4e08-4bd8-a63a-60f3eec90bfb" providerId="ADAL" clId="{345FD05F-A501-4160-A83F-FF9DC4A2DCA5}" dt="2026-04-28T18:24:24.004" v="265" actId="1076"/>
          <ac:spMkLst>
            <pc:docMk/>
            <pc:sldMk cId="42577042" sldId="657"/>
            <ac:spMk id="9" creationId="{0CFF25BF-1083-0035-B3B7-80F36D608A5E}"/>
          </ac:spMkLst>
        </pc:spChg>
        <pc:spChg chg="mod">
          <ac:chgData name="Yinxian Zhang" userId="6e5d5777-4e08-4bd8-a63a-60f3eec90bfb" providerId="ADAL" clId="{345FD05F-A501-4160-A83F-FF9DC4A2DCA5}" dt="2026-04-28T18:24:24.004" v="265" actId="1076"/>
          <ac:spMkLst>
            <pc:docMk/>
            <pc:sldMk cId="42577042" sldId="657"/>
            <ac:spMk id="10" creationId="{4D96B1D6-8409-773C-F145-B790660BC164}"/>
          </ac:spMkLst>
        </pc:spChg>
        <pc:spChg chg="mod">
          <ac:chgData name="Yinxian Zhang" userId="6e5d5777-4e08-4bd8-a63a-60f3eec90bfb" providerId="ADAL" clId="{345FD05F-A501-4160-A83F-FF9DC4A2DCA5}" dt="2026-04-28T18:24:24.004" v="265" actId="1076"/>
          <ac:spMkLst>
            <pc:docMk/>
            <pc:sldMk cId="42577042" sldId="657"/>
            <ac:spMk id="11" creationId="{10A4A646-3E89-F384-0BAB-58367D323902}"/>
          </ac:spMkLst>
        </pc:spChg>
        <pc:spChg chg="mod">
          <ac:chgData name="Yinxian Zhang" userId="6e5d5777-4e08-4bd8-a63a-60f3eec90bfb" providerId="ADAL" clId="{345FD05F-A501-4160-A83F-FF9DC4A2DCA5}" dt="2026-04-28T18:24:24.004" v="265" actId="1076"/>
          <ac:spMkLst>
            <pc:docMk/>
            <pc:sldMk cId="42577042" sldId="657"/>
            <ac:spMk id="12" creationId="{59173FFC-5962-0B54-59D1-481625AED80A}"/>
          </ac:spMkLst>
        </pc:spChg>
        <pc:spChg chg="mod">
          <ac:chgData name="Yinxian Zhang" userId="6e5d5777-4e08-4bd8-a63a-60f3eec90bfb" providerId="ADAL" clId="{345FD05F-A501-4160-A83F-FF9DC4A2DCA5}" dt="2026-04-28T18:24:43.148" v="266" actId="1076"/>
          <ac:spMkLst>
            <pc:docMk/>
            <pc:sldMk cId="42577042" sldId="657"/>
            <ac:spMk id="14" creationId="{829B48FA-CA2D-AB07-AB9D-03DAE10EEBDD}"/>
          </ac:spMkLst>
        </pc:spChg>
        <pc:graphicFrameChg chg="mod">
          <ac:chgData name="Yinxian Zhang" userId="6e5d5777-4e08-4bd8-a63a-60f3eec90bfb" providerId="ADAL" clId="{345FD05F-A501-4160-A83F-FF9DC4A2DCA5}" dt="2026-04-28T18:24:24.004" v="265" actId="1076"/>
          <ac:graphicFrameMkLst>
            <pc:docMk/>
            <pc:sldMk cId="42577042" sldId="657"/>
            <ac:graphicFrameMk id="6" creationId="{A5093756-2171-3D35-127C-013CC51911E1}"/>
          </ac:graphicFrameMkLst>
        </pc:graphicFrameChg>
      </pc:sldChg>
      <pc:sldChg chg="modSp">
        <pc:chgData name="Yinxian Zhang" userId="6e5d5777-4e08-4bd8-a63a-60f3eec90bfb" providerId="ADAL" clId="{345FD05F-A501-4160-A83F-FF9DC4A2DCA5}" dt="2026-04-28T18:33:40.762" v="441" actId="207"/>
        <pc:sldMkLst>
          <pc:docMk/>
          <pc:sldMk cId="4208508118" sldId="660"/>
        </pc:sldMkLst>
        <pc:spChg chg="mod">
          <ac:chgData name="Yinxian Zhang" userId="6e5d5777-4e08-4bd8-a63a-60f3eec90bfb" providerId="ADAL" clId="{345FD05F-A501-4160-A83F-FF9DC4A2DCA5}" dt="2026-04-28T18:33:40.762" v="441" actId="207"/>
          <ac:spMkLst>
            <pc:docMk/>
            <pc:sldMk cId="4208508118" sldId="660"/>
            <ac:spMk id="3" creationId="{00000000-0000-0000-0000-000000000000}"/>
          </ac:spMkLst>
        </pc:spChg>
      </pc:sldChg>
      <pc:sldChg chg="modSp mod">
        <pc:chgData name="Yinxian Zhang" userId="6e5d5777-4e08-4bd8-a63a-60f3eec90bfb" providerId="ADAL" clId="{345FD05F-A501-4160-A83F-FF9DC4A2DCA5}" dt="2026-04-28T18:33:57.356" v="444" actId="20577"/>
        <pc:sldMkLst>
          <pc:docMk/>
          <pc:sldMk cId="1015192260" sldId="669"/>
        </pc:sldMkLst>
        <pc:spChg chg="mod">
          <ac:chgData name="Yinxian Zhang" userId="6e5d5777-4e08-4bd8-a63a-60f3eec90bfb" providerId="ADAL" clId="{345FD05F-A501-4160-A83F-FF9DC4A2DCA5}" dt="2026-04-28T18:33:57.356" v="444" actId="20577"/>
          <ac:spMkLst>
            <pc:docMk/>
            <pc:sldMk cId="1015192260" sldId="669"/>
            <ac:spMk id="3" creationId="{00000000-0000-0000-0000-000000000000}"/>
          </ac:spMkLst>
        </pc:spChg>
      </pc:sldChg>
      <pc:sldChg chg="modSp modAnim">
        <pc:chgData name="Yinxian Zhang" userId="6e5d5777-4e08-4bd8-a63a-60f3eec90bfb" providerId="ADAL" clId="{345FD05F-A501-4160-A83F-FF9DC4A2DCA5}" dt="2026-04-28T20:43:59.821" v="530" actId="20577"/>
        <pc:sldMkLst>
          <pc:docMk/>
          <pc:sldMk cId="2457905921" sldId="670"/>
        </pc:sldMkLst>
        <pc:spChg chg="mod">
          <ac:chgData name="Yinxian Zhang" userId="6e5d5777-4e08-4bd8-a63a-60f3eec90bfb" providerId="ADAL" clId="{345FD05F-A501-4160-A83F-FF9DC4A2DCA5}" dt="2026-04-28T20:43:59.821" v="530" actId="20577"/>
          <ac:spMkLst>
            <pc:docMk/>
            <pc:sldMk cId="2457905921" sldId="670"/>
            <ac:spMk id="3" creationId="{00000000-0000-0000-0000-000000000000}"/>
          </ac:spMkLst>
        </pc:spChg>
      </pc:sldChg>
      <pc:sldChg chg="modSp mod modAnim">
        <pc:chgData name="Yinxian Zhang" userId="6e5d5777-4e08-4bd8-a63a-60f3eec90bfb" providerId="ADAL" clId="{345FD05F-A501-4160-A83F-FF9DC4A2DCA5}" dt="2026-04-28T20:33:07.028" v="474"/>
        <pc:sldMkLst>
          <pc:docMk/>
          <pc:sldMk cId="2767785116" sldId="750"/>
        </pc:sldMkLst>
        <pc:spChg chg="mod">
          <ac:chgData name="Yinxian Zhang" userId="6e5d5777-4e08-4bd8-a63a-60f3eec90bfb" providerId="ADAL" clId="{345FD05F-A501-4160-A83F-FF9DC4A2DCA5}" dt="2026-04-28T18:14:45.702" v="65" actId="20577"/>
          <ac:spMkLst>
            <pc:docMk/>
            <pc:sldMk cId="2767785116" sldId="750"/>
            <ac:spMk id="2" creationId="{3ABC7CF0-6867-3850-A3B3-701837B26451}"/>
          </ac:spMkLst>
        </pc:spChg>
        <pc:spChg chg="mod">
          <ac:chgData name="Yinxian Zhang" userId="6e5d5777-4e08-4bd8-a63a-60f3eec90bfb" providerId="ADAL" clId="{345FD05F-A501-4160-A83F-FF9DC4A2DCA5}" dt="2026-04-28T18:15:25.206" v="68" actId="20577"/>
          <ac:spMkLst>
            <pc:docMk/>
            <pc:sldMk cId="2767785116" sldId="750"/>
            <ac:spMk id="3" creationId="{793EA9DC-71BA-BBB6-8BDA-1AD22A9EB4F6}"/>
          </ac:spMkLst>
        </pc:spChg>
      </pc:sldChg>
      <pc:sldChg chg="modSp">
        <pc:chgData name="Yinxian Zhang" userId="6e5d5777-4e08-4bd8-a63a-60f3eec90bfb" providerId="ADAL" clId="{345FD05F-A501-4160-A83F-FF9DC4A2DCA5}" dt="2026-04-28T18:22:46.094" v="263" actId="207"/>
        <pc:sldMkLst>
          <pc:docMk/>
          <pc:sldMk cId="2481723152" sldId="752"/>
        </pc:sldMkLst>
        <pc:spChg chg="mod">
          <ac:chgData name="Yinxian Zhang" userId="6e5d5777-4e08-4bd8-a63a-60f3eec90bfb" providerId="ADAL" clId="{345FD05F-A501-4160-A83F-FF9DC4A2DCA5}" dt="2026-04-28T18:22:46.094" v="263" actId="207"/>
          <ac:spMkLst>
            <pc:docMk/>
            <pc:sldMk cId="2481723152" sldId="752"/>
            <ac:spMk id="5" creationId="{E30FE628-D893-4570-8EE8-505B40EBA9AD}"/>
          </ac:spMkLst>
        </pc:spChg>
      </pc:sldChg>
      <pc:sldChg chg="addSp modSp mod modAnim">
        <pc:chgData name="Yinxian Zhang" userId="6e5d5777-4e08-4bd8-a63a-60f3eec90bfb" providerId="ADAL" clId="{345FD05F-A501-4160-A83F-FF9DC4A2DCA5}" dt="2026-04-28T20:38:31.138" v="521"/>
        <pc:sldMkLst>
          <pc:docMk/>
          <pc:sldMk cId="3389519024" sldId="753"/>
        </pc:sldMkLst>
        <pc:spChg chg="mod">
          <ac:chgData name="Yinxian Zhang" userId="6e5d5777-4e08-4bd8-a63a-60f3eec90bfb" providerId="ADAL" clId="{345FD05F-A501-4160-A83F-FF9DC4A2DCA5}" dt="2026-04-28T18:20:06.581" v="231" actId="20577"/>
          <ac:spMkLst>
            <pc:docMk/>
            <pc:sldMk cId="3389519024" sldId="753"/>
            <ac:spMk id="3" creationId="{40C6DD31-2832-4B4A-555B-0B3C73F764F5}"/>
          </ac:spMkLst>
        </pc:spChg>
        <pc:spChg chg="mod">
          <ac:chgData name="Yinxian Zhang" userId="6e5d5777-4e08-4bd8-a63a-60f3eec90bfb" providerId="ADAL" clId="{345FD05F-A501-4160-A83F-FF9DC4A2DCA5}" dt="2026-04-28T20:36:59.223" v="490" actId="14100"/>
          <ac:spMkLst>
            <pc:docMk/>
            <pc:sldMk cId="3389519024" sldId="753"/>
            <ac:spMk id="5" creationId="{4243A9C5-EF59-A22C-899D-54945B51B98C}"/>
          </ac:spMkLst>
        </pc:spChg>
        <pc:spChg chg="mod">
          <ac:chgData name="Yinxian Zhang" userId="6e5d5777-4e08-4bd8-a63a-60f3eec90bfb" providerId="ADAL" clId="{345FD05F-A501-4160-A83F-FF9DC4A2DCA5}" dt="2026-04-28T20:37:38.811" v="498" actId="14100"/>
          <ac:spMkLst>
            <pc:docMk/>
            <pc:sldMk cId="3389519024" sldId="753"/>
            <ac:spMk id="6" creationId="{1E91BBFB-89D5-CC30-6FA5-FABFAC83765F}"/>
          </ac:spMkLst>
        </pc:spChg>
        <pc:spChg chg="add mod">
          <ac:chgData name="Yinxian Zhang" userId="6e5d5777-4e08-4bd8-a63a-60f3eec90bfb" providerId="ADAL" clId="{345FD05F-A501-4160-A83F-FF9DC4A2DCA5}" dt="2026-04-28T20:36:02.877" v="478" actId="208"/>
          <ac:spMkLst>
            <pc:docMk/>
            <pc:sldMk cId="3389519024" sldId="753"/>
            <ac:spMk id="7" creationId="{EC441830-93C3-C2FE-D2C5-6C6F3668CF89}"/>
          </ac:spMkLst>
        </pc:spChg>
        <pc:spChg chg="add mod">
          <ac:chgData name="Yinxian Zhang" userId="6e5d5777-4e08-4bd8-a63a-60f3eec90bfb" providerId="ADAL" clId="{345FD05F-A501-4160-A83F-FF9DC4A2DCA5}" dt="2026-04-28T20:36:19.480" v="481" actId="1076"/>
          <ac:spMkLst>
            <pc:docMk/>
            <pc:sldMk cId="3389519024" sldId="753"/>
            <ac:spMk id="8" creationId="{D8E1F533-3C66-B2F6-4983-EE970508B545}"/>
          </ac:spMkLst>
        </pc:spChg>
        <pc:spChg chg="mod">
          <ac:chgData name="Yinxian Zhang" userId="6e5d5777-4e08-4bd8-a63a-60f3eec90bfb" providerId="ADAL" clId="{345FD05F-A501-4160-A83F-FF9DC4A2DCA5}" dt="2026-04-28T18:21:30.437" v="247" actId="207"/>
          <ac:spMkLst>
            <pc:docMk/>
            <pc:sldMk cId="3389519024" sldId="753"/>
            <ac:spMk id="9" creationId="{E220BF3F-4477-BB9F-8BDB-0888634CA481}"/>
          </ac:spMkLst>
        </pc:spChg>
        <pc:spChg chg="add mod">
          <ac:chgData name="Yinxian Zhang" userId="6e5d5777-4e08-4bd8-a63a-60f3eec90bfb" providerId="ADAL" clId="{345FD05F-A501-4160-A83F-FF9DC4A2DCA5}" dt="2026-04-28T20:36:27.249" v="484" actId="14100"/>
          <ac:spMkLst>
            <pc:docMk/>
            <pc:sldMk cId="3389519024" sldId="753"/>
            <ac:spMk id="10" creationId="{CB5B60AB-18B8-90C3-4C06-E1DBFC582E45}"/>
          </ac:spMkLst>
        </pc:spChg>
        <pc:spChg chg="add mod">
          <ac:chgData name="Yinxian Zhang" userId="6e5d5777-4e08-4bd8-a63a-60f3eec90bfb" providerId="ADAL" clId="{345FD05F-A501-4160-A83F-FF9DC4A2DCA5}" dt="2026-04-28T20:37:16.827" v="492" actId="1076"/>
          <ac:spMkLst>
            <pc:docMk/>
            <pc:sldMk cId="3389519024" sldId="753"/>
            <ac:spMk id="12" creationId="{D9745C51-97F0-BF85-8675-E9B5512BE733}"/>
          </ac:spMkLst>
        </pc:spChg>
        <pc:spChg chg="add mod">
          <ac:chgData name="Yinxian Zhang" userId="6e5d5777-4e08-4bd8-a63a-60f3eec90bfb" providerId="ADAL" clId="{345FD05F-A501-4160-A83F-FF9DC4A2DCA5}" dt="2026-04-28T20:37:22.618" v="494" actId="1076"/>
          <ac:spMkLst>
            <pc:docMk/>
            <pc:sldMk cId="3389519024" sldId="753"/>
            <ac:spMk id="13" creationId="{8FD2196D-CDE5-A220-4515-056A8DF2C7A5}"/>
          </ac:spMkLst>
        </pc:spChg>
        <pc:spChg chg="add mod">
          <ac:chgData name="Yinxian Zhang" userId="6e5d5777-4e08-4bd8-a63a-60f3eec90bfb" providerId="ADAL" clId="{345FD05F-A501-4160-A83F-FF9DC4A2DCA5}" dt="2026-04-28T20:37:32.990" v="497" actId="14100"/>
          <ac:spMkLst>
            <pc:docMk/>
            <pc:sldMk cId="3389519024" sldId="753"/>
            <ac:spMk id="14" creationId="{98EEF5BB-8AB5-BF13-0181-3130835513BF}"/>
          </ac:spMkLst>
        </pc:spChg>
        <pc:graphicFrameChg chg="modGraphic">
          <ac:chgData name="Yinxian Zhang" userId="6e5d5777-4e08-4bd8-a63a-60f3eec90bfb" providerId="ADAL" clId="{345FD05F-A501-4160-A83F-FF9DC4A2DCA5}" dt="2026-04-28T20:37:48.914" v="517" actId="20577"/>
          <ac:graphicFrameMkLst>
            <pc:docMk/>
            <pc:sldMk cId="3389519024" sldId="753"/>
            <ac:graphicFrameMk id="4" creationId="{FB9BA7B4-DE24-6C1D-2BAA-322AE95122E7}"/>
          </ac:graphicFrameMkLst>
        </pc:graphicFrameChg>
      </pc:sldChg>
      <pc:sldChg chg="modSp">
        <pc:chgData name="Yinxian Zhang" userId="6e5d5777-4e08-4bd8-a63a-60f3eec90bfb" providerId="ADAL" clId="{345FD05F-A501-4160-A83F-FF9DC4A2DCA5}" dt="2026-04-28T18:25:47.336" v="302" actId="20577"/>
        <pc:sldMkLst>
          <pc:docMk/>
          <pc:sldMk cId="15094643" sldId="754"/>
        </pc:sldMkLst>
        <pc:spChg chg="mod">
          <ac:chgData name="Yinxian Zhang" userId="6e5d5777-4e08-4bd8-a63a-60f3eec90bfb" providerId="ADAL" clId="{345FD05F-A501-4160-A83F-FF9DC4A2DCA5}" dt="2026-04-28T18:25:47.336" v="302" actId="20577"/>
          <ac:spMkLst>
            <pc:docMk/>
            <pc:sldMk cId="15094643" sldId="754"/>
            <ac:spMk id="9" creationId="{F9FF1CD0-83C6-F3D0-70FC-5E2608F8388E}"/>
          </ac:spMkLst>
        </pc:spChg>
        <pc:spChg chg="mod">
          <ac:chgData name="Yinxian Zhang" userId="6e5d5777-4e08-4bd8-a63a-60f3eec90bfb" providerId="ADAL" clId="{345FD05F-A501-4160-A83F-FF9DC4A2DCA5}" dt="2026-04-28T18:25:34.733" v="277" actId="20577"/>
          <ac:spMkLst>
            <pc:docMk/>
            <pc:sldMk cId="15094643" sldId="754"/>
            <ac:spMk id="10" creationId="{95665F36-3D37-071E-8769-C9837523988A}"/>
          </ac:spMkLst>
        </pc:spChg>
      </pc:sldChg>
      <pc:sldChg chg="modSp mod">
        <pc:chgData name="Yinxian Zhang" userId="6e5d5777-4e08-4bd8-a63a-60f3eec90bfb" providerId="ADAL" clId="{345FD05F-A501-4160-A83F-FF9DC4A2DCA5}" dt="2026-04-28T18:29:05.133" v="373" actId="20577"/>
        <pc:sldMkLst>
          <pc:docMk/>
          <pc:sldMk cId="3528158265" sldId="901"/>
        </pc:sldMkLst>
        <pc:graphicFrameChg chg="modGraphic">
          <ac:chgData name="Yinxian Zhang" userId="6e5d5777-4e08-4bd8-a63a-60f3eec90bfb" providerId="ADAL" clId="{345FD05F-A501-4160-A83F-FF9DC4A2DCA5}" dt="2026-04-28T18:29:05.133" v="373" actId="20577"/>
          <ac:graphicFrameMkLst>
            <pc:docMk/>
            <pc:sldMk cId="3528158265" sldId="901"/>
            <ac:graphicFrameMk id="4" creationId="{C2DC33EA-1C2E-2315-C922-1DFE3CC0EC03}"/>
          </ac:graphicFrameMkLst>
        </pc:graphicFrameChg>
      </pc:sldChg>
      <pc:sldChg chg="modSp mod">
        <pc:chgData name="Yinxian Zhang" userId="6e5d5777-4e08-4bd8-a63a-60f3eec90bfb" providerId="ADAL" clId="{345FD05F-A501-4160-A83F-FF9DC4A2DCA5}" dt="2026-04-28T18:28:31.127" v="353" actId="20577"/>
        <pc:sldMkLst>
          <pc:docMk/>
          <pc:sldMk cId="1219425449" sldId="944"/>
        </pc:sldMkLst>
        <pc:spChg chg="mod">
          <ac:chgData name="Yinxian Zhang" userId="6e5d5777-4e08-4bd8-a63a-60f3eec90bfb" providerId="ADAL" clId="{345FD05F-A501-4160-A83F-FF9DC4A2DCA5}" dt="2026-04-28T18:28:31.127" v="353" actId="20577"/>
          <ac:spMkLst>
            <pc:docMk/>
            <pc:sldMk cId="1219425449" sldId="944"/>
            <ac:spMk id="3" creationId="{3DB1532B-A50B-3FE2-DB65-66DB40A62ED8}"/>
          </ac:spMkLst>
        </pc:spChg>
      </pc:sldChg>
      <pc:sldChg chg="del">
        <pc:chgData name="Yinxian Zhang" userId="6e5d5777-4e08-4bd8-a63a-60f3eec90bfb" providerId="ADAL" clId="{345FD05F-A501-4160-A83F-FF9DC4A2DCA5}" dt="2026-04-28T18:09:23.840" v="0" actId="47"/>
        <pc:sldMkLst>
          <pc:docMk/>
          <pc:sldMk cId="3503778653" sldId="94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33F1E5-CD98-4384-B776-E5E488D6704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727F680-9041-4734-87A2-DDD695FFD1A0}">
      <dgm:prSet custT="1"/>
      <dgm:spPr>
        <a:solidFill>
          <a:schemeClr val="bg2">
            <a:lumMod val="90000"/>
          </a:schemeClr>
        </a:solidFill>
      </dgm:spPr>
      <dgm:t>
        <a:bodyPr/>
        <a:lstStyle/>
        <a:p>
          <a:r>
            <a:rPr lang="en-US" altLang="zh-CN" sz="2200" b="1" dirty="0">
              <a:solidFill>
                <a:schemeClr val="tx1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Bivariate Association </a:t>
          </a:r>
        </a:p>
        <a:p>
          <a:r>
            <a:rPr lang="en-US" sz="1800" b="1" dirty="0">
              <a:solidFill>
                <a:schemeClr val="accent2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direction</a:t>
          </a:r>
        </a:p>
        <a:p>
          <a:r>
            <a:rPr lang="en-US" sz="1800" b="1" dirty="0">
              <a:solidFill>
                <a:schemeClr val="accent2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strength</a:t>
          </a:r>
        </a:p>
        <a:p>
          <a:r>
            <a:rPr lang="en-US" sz="1800" b="1" dirty="0">
              <a:solidFill>
                <a:schemeClr val="accent2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statistical significance</a:t>
          </a:r>
        </a:p>
      </dgm:t>
    </dgm:pt>
    <dgm:pt modelId="{B652FF4F-B1DE-4F52-A64E-3D292F0B0B6C}" type="parTrans" cxnId="{606797AC-B5E9-4A07-A537-C99712B98B8D}">
      <dgm:prSet/>
      <dgm:spPr/>
      <dgm:t>
        <a:bodyPr/>
        <a:lstStyle/>
        <a:p>
          <a:endParaRPr lang="en-US"/>
        </a:p>
      </dgm:t>
    </dgm:pt>
    <dgm:pt modelId="{27D73CCF-2057-42CD-80DB-0A0841661BA7}" type="sibTrans" cxnId="{606797AC-B5E9-4A07-A537-C99712B98B8D}">
      <dgm:prSet/>
      <dgm:spPr/>
      <dgm:t>
        <a:bodyPr/>
        <a:lstStyle/>
        <a:p>
          <a:endParaRPr lang="en-US"/>
        </a:p>
      </dgm:t>
    </dgm:pt>
    <dgm:pt modelId="{2457A76E-875B-4D53-98BD-3FDE0A7C919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2200" b="1" dirty="0">
              <a:solidFill>
                <a:schemeClr val="tx1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Bivariate Categorical Analysis</a:t>
          </a:r>
        </a:p>
        <a:p>
          <a:r>
            <a:rPr lang="en-US" sz="180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rPr>
            <a:t>contingency tables</a:t>
          </a:r>
        </a:p>
      </dgm:t>
    </dgm:pt>
    <dgm:pt modelId="{F6040B22-BE40-439A-811A-CAB0DA69EC51}" type="parTrans" cxnId="{E388A0AE-F649-43D2-90AF-0F57FA4E2091}">
      <dgm:prSet/>
      <dgm:spPr/>
      <dgm:t>
        <a:bodyPr/>
        <a:lstStyle/>
        <a:p>
          <a:endParaRPr lang="en-US"/>
        </a:p>
      </dgm:t>
    </dgm:pt>
    <dgm:pt modelId="{B82EFF9E-2EB2-472F-9E03-C678F1716249}" type="sibTrans" cxnId="{E388A0AE-F649-43D2-90AF-0F57FA4E2091}">
      <dgm:prSet/>
      <dgm:spPr/>
      <dgm:t>
        <a:bodyPr/>
        <a:lstStyle/>
        <a:p>
          <a:endParaRPr lang="en-US"/>
        </a:p>
      </dgm:t>
    </dgm:pt>
    <dgm:pt modelId="{11757998-7C62-48C7-88B2-931D0F4FCCC7}">
      <dgm:prSet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altLang="zh-CN" sz="2200" b="1" dirty="0">
              <a:solidFill>
                <a:schemeClr val="tx1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Hypothesis Testing for Bivariate Categorical Analysis</a:t>
          </a:r>
        </a:p>
        <a:p>
          <a:r>
            <a:rPr lang="en-US" altLang="zh-CN" sz="1800" b="1" dirty="0">
              <a:solidFill>
                <a:srgbClr val="C00000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Chi-squared test</a:t>
          </a:r>
        </a:p>
      </dgm:t>
    </dgm:pt>
    <dgm:pt modelId="{397F6474-0CD4-4D53-84A7-05FA4A75EB70}" type="parTrans" cxnId="{3B11ED26-EB59-48F5-A431-17E90606D900}">
      <dgm:prSet/>
      <dgm:spPr/>
      <dgm:t>
        <a:bodyPr/>
        <a:lstStyle/>
        <a:p>
          <a:endParaRPr lang="en-US"/>
        </a:p>
      </dgm:t>
    </dgm:pt>
    <dgm:pt modelId="{84FD02FD-0E95-4CF6-B2E5-5C85716D5648}" type="sibTrans" cxnId="{3B11ED26-EB59-48F5-A431-17E90606D900}">
      <dgm:prSet/>
      <dgm:spPr/>
      <dgm:t>
        <a:bodyPr/>
        <a:lstStyle/>
        <a:p>
          <a:endParaRPr lang="en-US"/>
        </a:p>
      </dgm:t>
    </dgm:pt>
    <dgm:pt modelId="{AB0CFD98-C5B4-4A3E-8207-61BC9F9A37C5}" type="pres">
      <dgm:prSet presAssocID="{C033F1E5-CD98-4384-B776-E5E488D6704F}" presName="diagram" presStyleCnt="0">
        <dgm:presLayoutVars>
          <dgm:dir/>
          <dgm:resizeHandles val="exact"/>
        </dgm:presLayoutVars>
      </dgm:prSet>
      <dgm:spPr/>
    </dgm:pt>
    <dgm:pt modelId="{6FF9C360-F5EB-431B-99C7-982B5AE000AA}" type="pres">
      <dgm:prSet presAssocID="{3727F680-9041-4734-87A2-DDD695FFD1A0}" presName="node" presStyleLbl="node1" presStyleIdx="0" presStyleCnt="3" custScaleX="70412" custScaleY="72473" custLinFactNeighborX="3509" custLinFactNeighborY="1087">
        <dgm:presLayoutVars>
          <dgm:bulletEnabled val="1"/>
        </dgm:presLayoutVars>
      </dgm:prSet>
      <dgm:spPr/>
    </dgm:pt>
    <dgm:pt modelId="{B128EA29-30E7-493D-8C01-40F69ECBAD42}" type="pres">
      <dgm:prSet presAssocID="{27D73CCF-2057-42CD-80DB-0A0841661BA7}" presName="sibTrans" presStyleCnt="0"/>
      <dgm:spPr/>
    </dgm:pt>
    <dgm:pt modelId="{0345D4E3-BB8F-4EAC-9EAC-5550360AD16F}" type="pres">
      <dgm:prSet presAssocID="{2457A76E-875B-4D53-98BD-3FDE0A7C919D}" presName="node" presStyleLbl="node1" presStyleIdx="1" presStyleCnt="3" custScaleX="69068" custScaleY="72582" custLinFactNeighborX="-1514" custLinFactNeighborY="1123">
        <dgm:presLayoutVars>
          <dgm:bulletEnabled val="1"/>
        </dgm:presLayoutVars>
      </dgm:prSet>
      <dgm:spPr/>
    </dgm:pt>
    <dgm:pt modelId="{BF230D36-B389-4086-977C-67B36E9ECE80}" type="pres">
      <dgm:prSet presAssocID="{B82EFF9E-2EB2-472F-9E03-C678F1716249}" presName="sibTrans" presStyleCnt="0"/>
      <dgm:spPr/>
    </dgm:pt>
    <dgm:pt modelId="{B8C3EB68-B8D6-4E28-96CB-53650E020E22}" type="pres">
      <dgm:prSet presAssocID="{11757998-7C62-48C7-88B2-931D0F4FCCC7}" presName="node" presStyleLbl="node1" presStyleIdx="2" presStyleCnt="3" custScaleX="106954" custScaleY="72582" custLinFactNeighborX="-878" custLinFactNeighborY="556">
        <dgm:presLayoutVars>
          <dgm:bulletEnabled val="1"/>
        </dgm:presLayoutVars>
      </dgm:prSet>
      <dgm:spPr/>
    </dgm:pt>
  </dgm:ptLst>
  <dgm:cxnLst>
    <dgm:cxn modelId="{3B11ED26-EB59-48F5-A431-17E90606D900}" srcId="{C033F1E5-CD98-4384-B776-E5E488D6704F}" destId="{11757998-7C62-48C7-88B2-931D0F4FCCC7}" srcOrd="2" destOrd="0" parTransId="{397F6474-0CD4-4D53-84A7-05FA4A75EB70}" sibTransId="{84FD02FD-0E95-4CF6-B2E5-5C85716D5648}"/>
    <dgm:cxn modelId="{B5D1A533-86C8-49B5-82DA-2CA5329A1C6E}" type="presOf" srcId="{C033F1E5-CD98-4384-B776-E5E488D6704F}" destId="{AB0CFD98-C5B4-4A3E-8207-61BC9F9A37C5}" srcOrd="0" destOrd="0" presId="urn:microsoft.com/office/officeart/2005/8/layout/default"/>
    <dgm:cxn modelId="{DF393F8B-3561-4C55-B5C0-4A32F9F3E96C}" type="presOf" srcId="{3727F680-9041-4734-87A2-DDD695FFD1A0}" destId="{6FF9C360-F5EB-431B-99C7-982B5AE000AA}" srcOrd="0" destOrd="0" presId="urn:microsoft.com/office/officeart/2005/8/layout/default"/>
    <dgm:cxn modelId="{606797AC-B5E9-4A07-A537-C99712B98B8D}" srcId="{C033F1E5-CD98-4384-B776-E5E488D6704F}" destId="{3727F680-9041-4734-87A2-DDD695FFD1A0}" srcOrd="0" destOrd="0" parTransId="{B652FF4F-B1DE-4F52-A64E-3D292F0B0B6C}" sibTransId="{27D73CCF-2057-42CD-80DB-0A0841661BA7}"/>
    <dgm:cxn modelId="{E388A0AE-F649-43D2-90AF-0F57FA4E2091}" srcId="{C033F1E5-CD98-4384-B776-E5E488D6704F}" destId="{2457A76E-875B-4D53-98BD-3FDE0A7C919D}" srcOrd="1" destOrd="0" parTransId="{F6040B22-BE40-439A-811A-CAB0DA69EC51}" sibTransId="{B82EFF9E-2EB2-472F-9E03-C678F1716249}"/>
    <dgm:cxn modelId="{5D760EE1-8750-4080-B90F-50F68E147946}" type="presOf" srcId="{2457A76E-875B-4D53-98BD-3FDE0A7C919D}" destId="{0345D4E3-BB8F-4EAC-9EAC-5550360AD16F}" srcOrd="0" destOrd="0" presId="urn:microsoft.com/office/officeart/2005/8/layout/default"/>
    <dgm:cxn modelId="{005207FA-F17B-4F79-9CBA-12A9BB80494A}" type="presOf" srcId="{11757998-7C62-48C7-88B2-931D0F4FCCC7}" destId="{B8C3EB68-B8D6-4E28-96CB-53650E020E22}" srcOrd="0" destOrd="0" presId="urn:microsoft.com/office/officeart/2005/8/layout/default"/>
    <dgm:cxn modelId="{6E269B88-BDD9-4564-80FA-70E0F9D300A8}" type="presParOf" srcId="{AB0CFD98-C5B4-4A3E-8207-61BC9F9A37C5}" destId="{6FF9C360-F5EB-431B-99C7-982B5AE000AA}" srcOrd="0" destOrd="0" presId="urn:microsoft.com/office/officeart/2005/8/layout/default"/>
    <dgm:cxn modelId="{6AC84B11-BFE4-446A-A9AA-2FC0E01DF17A}" type="presParOf" srcId="{AB0CFD98-C5B4-4A3E-8207-61BC9F9A37C5}" destId="{B128EA29-30E7-493D-8C01-40F69ECBAD42}" srcOrd="1" destOrd="0" presId="urn:microsoft.com/office/officeart/2005/8/layout/default"/>
    <dgm:cxn modelId="{35EDD116-220E-4548-B3A2-D7FE2EA3BD42}" type="presParOf" srcId="{AB0CFD98-C5B4-4A3E-8207-61BC9F9A37C5}" destId="{0345D4E3-BB8F-4EAC-9EAC-5550360AD16F}" srcOrd="2" destOrd="0" presId="urn:microsoft.com/office/officeart/2005/8/layout/default"/>
    <dgm:cxn modelId="{0A6105A7-B65F-4F83-8449-67BA1C17C86A}" type="presParOf" srcId="{AB0CFD98-C5B4-4A3E-8207-61BC9F9A37C5}" destId="{BF230D36-B389-4086-977C-67B36E9ECE80}" srcOrd="3" destOrd="0" presId="urn:microsoft.com/office/officeart/2005/8/layout/default"/>
    <dgm:cxn modelId="{EE97E219-C9FE-4DEC-AC57-44BC454B2A54}" type="presParOf" srcId="{AB0CFD98-C5B4-4A3E-8207-61BC9F9A37C5}" destId="{B8C3EB68-B8D6-4E28-96CB-53650E020E2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639C4B-E39D-5C49-9A5A-4C755298A7C7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4925FF5-93F8-3543-A762-8034BEC7873C}">
      <dgm:prSet custT="1"/>
      <dgm:spPr/>
      <dgm:t>
        <a:bodyPr/>
        <a:lstStyle/>
        <a:p>
          <a:r>
            <a:rPr lang="en-US" sz="3000" dirty="0">
              <a:latin typeface="Arial" panose="020B0604020202020204" pitchFamily="34" charset="0"/>
              <a:cs typeface="Arial" panose="020B0604020202020204" pitchFamily="34" charset="0"/>
            </a:rPr>
            <a:t>Causation</a:t>
          </a:r>
        </a:p>
      </dgm:t>
    </dgm:pt>
    <dgm:pt modelId="{4093F702-A5C1-6641-B318-B0BAA9EB9CDD}" type="parTrans" cxnId="{FEC02153-C5F3-4340-9864-DE0C1252BEE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E8C336-CF96-E24A-B6F6-7B7CA3028693}" type="sibTrans" cxnId="{FEC02153-C5F3-4340-9864-DE0C1252BEE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5E8D65-DF75-6F4D-A933-D43BE4DBE84B}">
      <dgm:prSet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 change in X </a:t>
          </a:r>
          <a:r>
            <a:rPr lang="en-US" sz="1800" b="1" u="sng" dirty="0">
              <a:latin typeface="Arial" panose="020B0604020202020204" pitchFamily="34" charset="0"/>
              <a:cs typeface="Arial" panose="020B0604020202020204" pitchFamily="34" charset="0"/>
            </a:rPr>
            <a:t>produces/causes 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 change in Y</a:t>
          </a:r>
        </a:p>
      </dgm:t>
    </dgm:pt>
    <dgm:pt modelId="{46805F83-C840-2946-8E62-CFA24FE0E60D}" type="parTrans" cxnId="{A836D553-F0AB-9D4D-A215-9AE9BA5FA3D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60C58D-39FC-3340-A5DE-BDDC9D198A0B}" type="sibTrans" cxnId="{A836D553-F0AB-9D4D-A215-9AE9BA5FA3D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2D4E00-8000-5847-A687-C54CD14A254C}">
      <dgm:prSet custT="1"/>
      <dgm:spPr/>
      <dgm:t>
        <a:bodyPr/>
        <a:lstStyle/>
        <a:p>
          <a:r>
            <a:rPr lang="en-US" sz="3000" dirty="0">
              <a:latin typeface="Arial" panose="020B0604020202020204" pitchFamily="34" charset="0"/>
              <a:cs typeface="Arial" panose="020B0604020202020204" pitchFamily="34" charset="0"/>
            </a:rPr>
            <a:t>Association</a:t>
          </a:r>
        </a:p>
      </dgm:t>
    </dgm:pt>
    <dgm:pt modelId="{BAC6B3C3-C54A-2743-97C3-E08D0D3892FB}" type="parTrans" cxnId="{6E602CD8-5BAB-3A41-8E9B-7375DF24BED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2447F7-7D74-2F45-A83B-81091DB91881}" type="sibTrans" cxnId="{6E602CD8-5BAB-3A41-8E9B-7375DF24BED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26BEC7-2E34-7044-8C8E-B24E14FF65F0}">
      <dgm:prSet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 change in X </a:t>
          </a:r>
          <a:r>
            <a:rPr lang="en-US" sz="1800" b="1" u="sng" dirty="0">
              <a:latin typeface="Arial" panose="020B0604020202020204" pitchFamily="34" charset="0"/>
              <a:cs typeface="Arial" panose="020B0604020202020204" pitchFamily="34" charset="0"/>
            </a:rPr>
            <a:t>coincides with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a change in Y</a:t>
          </a:r>
        </a:p>
      </dgm:t>
    </dgm:pt>
    <dgm:pt modelId="{825EEF42-97E5-294C-B851-696E921868DD}" type="parTrans" cxnId="{FCB4A09B-29FB-6E4E-8483-1DB919520C5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E8A503-B74E-DB4E-9326-6B762108459B}" type="sibTrans" cxnId="{FCB4A09B-29FB-6E4E-8483-1DB919520C5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7FAA2D-2D88-B247-AA38-A025CDA9191D}" type="pres">
      <dgm:prSet presAssocID="{CB639C4B-E39D-5C49-9A5A-4C755298A7C7}" presName="Name0" presStyleCnt="0">
        <dgm:presLayoutVars>
          <dgm:dir/>
          <dgm:animLvl val="lvl"/>
          <dgm:resizeHandles val="exact"/>
        </dgm:presLayoutVars>
      </dgm:prSet>
      <dgm:spPr/>
    </dgm:pt>
    <dgm:pt modelId="{A9688DAB-4B4E-2B4C-83EE-434D39D2701B}" type="pres">
      <dgm:prSet presAssocID="{04925FF5-93F8-3543-A762-8034BEC7873C}" presName="linNode" presStyleCnt="0"/>
      <dgm:spPr/>
    </dgm:pt>
    <dgm:pt modelId="{BEBE81F9-8792-DA4C-A2F3-9923A1EE5DB3}" type="pres">
      <dgm:prSet presAssocID="{04925FF5-93F8-3543-A762-8034BEC7873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400C4A9-77C3-4541-A58D-E274DEDEC6E7}" type="pres">
      <dgm:prSet presAssocID="{04925FF5-93F8-3543-A762-8034BEC7873C}" presName="descendantText" presStyleLbl="alignAccFollowNode1" presStyleIdx="0" presStyleCnt="2">
        <dgm:presLayoutVars>
          <dgm:bulletEnabled val="1"/>
        </dgm:presLayoutVars>
      </dgm:prSet>
      <dgm:spPr/>
    </dgm:pt>
    <dgm:pt modelId="{7115D8AC-1D45-2A41-B59E-009F2E357212}" type="pres">
      <dgm:prSet presAssocID="{91E8C336-CF96-E24A-B6F6-7B7CA3028693}" presName="sp" presStyleCnt="0"/>
      <dgm:spPr/>
    </dgm:pt>
    <dgm:pt modelId="{390375C5-AFE4-9C45-AA22-071595673596}" type="pres">
      <dgm:prSet presAssocID="{652D4E00-8000-5847-A687-C54CD14A254C}" presName="linNode" presStyleCnt="0"/>
      <dgm:spPr/>
    </dgm:pt>
    <dgm:pt modelId="{49D4687D-0F34-414C-8E0B-E9719161326E}" type="pres">
      <dgm:prSet presAssocID="{652D4E00-8000-5847-A687-C54CD14A254C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82AEE91-864F-8D45-A75F-592D6618A211}" type="pres">
      <dgm:prSet presAssocID="{652D4E00-8000-5847-A687-C54CD14A254C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FE32821-D477-2349-9357-DE4DA6B9A64E}" type="presOf" srcId="{CB5E8D65-DF75-6F4D-A933-D43BE4DBE84B}" destId="{5400C4A9-77C3-4541-A58D-E274DEDEC6E7}" srcOrd="0" destOrd="0" presId="urn:microsoft.com/office/officeart/2005/8/layout/vList5"/>
    <dgm:cxn modelId="{FEC02153-C5F3-4340-9864-DE0C1252BEE3}" srcId="{CB639C4B-E39D-5C49-9A5A-4C755298A7C7}" destId="{04925FF5-93F8-3543-A762-8034BEC7873C}" srcOrd="0" destOrd="0" parTransId="{4093F702-A5C1-6641-B318-B0BAA9EB9CDD}" sibTransId="{91E8C336-CF96-E24A-B6F6-7B7CA3028693}"/>
    <dgm:cxn modelId="{A836D553-F0AB-9D4D-A215-9AE9BA5FA3D3}" srcId="{04925FF5-93F8-3543-A762-8034BEC7873C}" destId="{CB5E8D65-DF75-6F4D-A933-D43BE4DBE84B}" srcOrd="0" destOrd="0" parTransId="{46805F83-C840-2946-8E62-CFA24FE0E60D}" sibTransId="{2560C58D-39FC-3340-A5DE-BDDC9D198A0B}"/>
    <dgm:cxn modelId="{BC17158B-159F-9D48-895E-0FF5DD54A9B2}" type="presOf" srcId="{CB639C4B-E39D-5C49-9A5A-4C755298A7C7}" destId="{077FAA2D-2D88-B247-AA38-A025CDA9191D}" srcOrd="0" destOrd="0" presId="urn:microsoft.com/office/officeart/2005/8/layout/vList5"/>
    <dgm:cxn modelId="{FCB4A09B-29FB-6E4E-8483-1DB919520C55}" srcId="{652D4E00-8000-5847-A687-C54CD14A254C}" destId="{9A26BEC7-2E34-7044-8C8E-B24E14FF65F0}" srcOrd="0" destOrd="0" parTransId="{825EEF42-97E5-294C-B851-696E921868DD}" sibTransId="{13E8A503-B74E-DB4E-9326-6B762108459B}"/>
    <dgm:cxn modelId="{09C306A1-89DF-3446-98CA-50E49BB29E6A}" type="presOf" srcId="{04925FF5-93F8-3543-A762-8034BEC7873C}" destId="{BEBE81F9-8792-DA4C-A2F3-9923A1EE5DB3}" srcOrd="0" destOrd="0" presId="urn:microsoft.com/office/officeart/2005/8/layout/vList5"/>
    <dgm:cxn modelId="{410FEDBB-DE4B-D845-83F8-3B0506B26E3D}" type="presOf" srcId="{9A26BEC7-2E34-7044-8C8E-B24E14FF65F0}" destId="{482AEE91-864F-8D45-A75F-592D6618A211}" srcOrd="0" destOrd="0" presId="urn:microsoft.com/office/officeart/2005/8/layout/vList5"/>
    <dgm:cxn modelId="{6E602CD8-5BAB-3A41-8E9B-7375DF24BED0}" srcId="{CB639C4B-E39D-5C49-9A5A-4C755298A7C7}" destId="{652D4E00-8000-5847-A687-C54CD14A254C}" srcOrd="1" destOrd="0" parTransId="{BAC6B3C3-C54A-2743-97C3-E08D0D3892FB}" sibTransId="{982447F7-7D74-2F45-A83B-81091DB91881}"/>
    <dgm:cxn modelId="{922DF4EB-6380-9340-B417-974159800EC2}" type="presOf" srcId="{652D4E00-8000-5847-A687-C54CD14A254C}" destId="{49D4687D-0F34-414C-8E0B-E9719161326E}" srcOrd="0" destOrd="0" presId="urn:microsoft.com/office/officeart/2005/8/layout/vList5"/>
    <dgm:cxn modelId="{44E13627-23F7-2242-AE3B-1B368AC15931}" type="presParOf" srcId="{077FAA2D-2D88-B247-AA38-A025CDA9191D}" destId="{A9688DAB-4B4E-2B4C-83EE-434D39D2701B}" srcOrd="0" destOrd="0" presId="urn:microsoft.com/office/officeart/2005/8/layout/vList5"/>
    <dgm:cxn modelId="{D91E8AA8-550A-8348-8E64-196296CD12B0}" type="presParOf" srcId="{A9688DAB-4B4E-2B4C-83EE-434D39D2701B}" destId="{BEBE81F9-8792-DA4C-A2F3-9923A1EE5DB3}" srcOrd="0" destOrd="0" presId="urn:microsoft.com/office/officeart/2005/8/layout/vList5"/>
    <dgm:cxn modelId="{256355EF-03C0-DE43-87C1-217B3E829BBC}" type="presParOf" srcId="{A9688DAB-4B4E-2B4C-83EE-434D39D2701B}" destId="{5400C4A9-77C3-4541-A58D-E274DEDEC6E7}" srcOrd="1" destOrd="0" presId="urn:microsoft.com/office/officeart/2005/8/layout/vList5"/>
    <dgm:cxn modelId="{19893310-65BC-CC48-AA1B-5130B1AE1BD2}" type="presParOf" srcId="{077FAA2D-2D88-B247-AA38-A025CDA9191D}" destId="{7115D8AC-1D45-2A41-B59E-009F2E357212}" srcOrd="1" destOrd="0" presId="urn:microsoft.com/office/officeart/2005/8/layout/vList5"/>
    <dgm:cxn modelId="{FDE6D954-A7F8-5040-A9F5-4E81B53DE197}" type="presParOf" srcId="{077FAA2D-2D88-B247-AA38-A025CDA9191D}" destId="{390375C5-AFE4-9C45-AA22-071595673596}" srcOrd="2" destOrd="0" presId="urn:microsoft.com/office/officeart/2005/8/layout/vList5"/>
    <dgm:cxn modelId="{6082331B-C991-C64A-8400-E0B0036E2E1E}" type="presParOf" srcId="{390375C5-AFE4-9C45-AA22-071595673596}" destId="{49D4687D-0F34-414C-8E0B-E9719161326E}" srcOrd="0" destOrd="0" presId="urn:microsoft.com/office/officeart/2005/8/layout/vList5"/>
    <dgm:cxn modelId="{D5B22A27-E3F7-7649-A8F5-86B94DD711E5}" type="presParOf" srcId="{390375C5-AFE4-9C45-AA22-071595673596}" destId="{482AEE91-864F-8D45-A75F-592D6618A21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99E8C8-EB34-45F7-BAD8-6FEF3191D7F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82BE15E-DB07-4C52-B124-D28874640BC1}">
      <dgm:prSet/>
      <dgm:spPr/>
      <dgm:t>
        <a:bodyPr/>
        <a:lstStyle/>
        <a:p>
          <a:r>
            <a:rPr lang="en-US" dirty="0"/>
            <a:t>Cause and effect should occur close together.</a:t>
          </a:r>
        </a:p>
      </dgm:t>
    </dgm:pt>
    <dgm:pt modelId="{82B49F21-717F-4AFD-832F-CDAEBD842048}" type="parTrans" cxnId="{B454183B-5836-4BA2-A5AA-90E42CB82651}">
      <dgm:prSet/>
      <dgm:spPr/>
      <dgm:t>
        <a:bodyPr/>
        <a:lstStyle/>
        <a:p>
          <a:endParaRPr lang="en-US"/>
        </a:p>
      </dgm:t>
    </dgm:pt>
    <dgm:pt modelId="{4C2A88CC-5DA7-4C99-B565-A5F55CD1E94A}" type="sibTrans" cxnId="{B454183B-5836-4BA2-A5AA-90E42CB82651}">
      <dgm:prSet/>
      <dgm:spPr/>
      <dgm:t>
        <a:bodyPr/>
        <a:lstStyle/>
        <a:p>
          <a:endParaRPr lang="en-US"/>
        </a:p>
      </dgm:t>
    </dgm:pt>
    <dgm:pt modelId="{AAE6C44E-2317-4631-944F-BDD9FF5EBDB4}">
      <dgm:prSet/>
      <dgm:spPr/>
      <dgm:t>
        <a:bodyPr/>
        <a:lstStyle/>
        <a:p>
          <a:r>
            <a:rPr lang="en-US" dirty="0"/>
            <a:t>The cause should come </a:t>
          </a:r>
          <a:r>
            <a:rPr lang="en-US" i="1" dirty="0"/>
            <a:t>before</a:t>
          </a:r>
          <a:r>
            <a:rPr lang="en-US" dirty="0"/>
            <a:t> the effect.</a:t>
          </a:r>
        </a:p>
      </dgm:t>
    </dgm:pt>
    <dgm:pt modelId="{E839E57E-4409-43B6-9BFA-E09F27087E4F}" type="parTrans" cxnId="{653614DF-7D26-42EC-B29A-9271F6783E13}">
      <dgm:prSet/>
      <dgm:spPr/>
      <dgm:t>
        <a:bodyPr/>
        <a:lstStyle/>
        <a:p>
          <a:endParaRPr lang="en-US"/>
        </a:p>
      </dgm:t>
    </dgm:pt>
    <dgm:pt modelId="{020BA455-7F5B-442D-8F8D-A46B6F68D904}" type="sibTrans" cxnId="{653614DF-7D26-42EC-B29A-9271F6783E13}">
      <dgm:prSet/>
      <dgm:spPr/>
      <dgm:t>
        <a:bodyPr/>
        <a:lstStyle/>
        <a:p>
          <a:endParaRPr lang="en-US"/>
        </a:p>
      </dgm:t>
    </dgm:pt>
    <dgm:pt modelId="{32F4E438-0A68-43DD-B8CB-324F04E75314}">
      <dgm:prSet/>
      <dgm:spPr/>
      <dgm:t>
        <a:bodyPr/>
        <a:lstStyle/>
        <a:p>
          <a:r>
            <a:rPr lang="en-US" dirty="0"/>
            <a:t>When the cause is absent, the effect should be absent.</a:t>
          </a:r>
        </a:p>
      </dgm:t>
    </dgm:pt>
    <dgm:pt modelId="{9E5062AA-3BF1-46B9-89BF-308DA634D898}" type="parTrans" cxnId="{0FBA3EDE-E649-4C3B-B9C5-C7DBC0B6F1BE}">
      <dgm:prSet/>
      <dgm:spPr/>
      <dgm:t>
        <a:bodyPr/>
        <a:lstStyle/>
        <a:p>
          <a:endParaRPr lang="en-US"/>
        </a:p>
      </dgm:t>
    </dgm:pt>
    <dgm:pt modelId="{93EAFD83-9566-4342-ABE9-3D0D6350D768}" type="sibTrans" cxnId="{0FBA3EDE-E649-4C3B-B9C5-C7DBC0B6F1BE}">
      <dgm:prSet/>
      <dgm:spPr/>
      <dgm:t>
        <a:bodyPr/>
        <a:lstStyle/>
        <a:p>
          <a:endParaRPr lang="en-US"/>
        </a:p>
      </dgm:t>
    </dgm:pt>
    <dgm:pt modelId="{99FAEDAA-FB8F-4030-BDFF-D2482DAB06DB}">
      <dgm:prSet/>
      <dgm:spPr/>
      <dgm:t>
        <a:bodyPr/>
        <a:lstStyle/>
        <a:p>
          <a:r>
            <a:rPr lang="en-US" dirty="0"/>
            <a:t>When the cause is present, the effect should be present.</a:t>
          </a:r>
        </a:p>
      </dgm:t>
    </dgm:pt>
    <dgm:pt modelId="{C7BA5665-A714-4532-8768-FE17576557F5}" type="parTrans" cxnId="{0A618B45-EE62-4F60-A5A6-435153680811}">
      <dgm:prSet/>
      <dgm:spPr/>
      <dgm:t>
        <a:bodyPr/>
        <a:lstStyle/>
        <a:p>
          <a:endParaRPr lang="en-US"/>
        </a:p>
      </dgm:t>
    </dgm:pt>
    <dgm:pt modelId="{548CA484-CC28-4704-8419-66DE3A11A732}" type="sibTrans" cxnId="{0A618B45-EE62-4F60-A5A6-435153680811}">
      <dgm:prSet/>
      <dgm:spPr/>
      <dgm:t>
        <a:bodyPr/>
        <a:lstStyle/>
        <a:p>
          <a:endParaRPr lang="en-US"/>
        </a:p>
      </dgm:t>
    </dgm:pt>
    <dgm:pt modelId="{07F25DEC-AE0C-064A-9379-961310D220F7}" type="pres">
      <dgm:prSet presAssocID="{6399E8C8-EB34-45F7-BAD8-6FEF3191D7F9}" presName="linear" presStyleCnt="0">
        <dgm:presLayoutVars>
          <dgm:animLvl val="lvl"/>
          <dgm:resizeHandles val="exact"/>
        </dgm:presLayoutVars>
      </dgm:prSet>
      <dgm:spPr/>
    </dgm:pt>
    <dgm:pt modelId="{DA3D6DC6-7B99-214E-BBE9-6D6465B3B3DC}" type="pres">
      <dgm:prSet presAssocID="{D82BE15E-DB07-4C52-B124-D28874640BC1}" presName="parentText" presStyleLbl="node1" presStyleIdx="0" presStyleCnt="4" custLinFactNeighborX="309" custLinFactNeighborY="5601">
        <dgm:presLayoutVars>
          <dgm:chMax val="0"/>
          <dgm:bulletEnabled val="1"/>
        </dgm:presLayoutVars>
      </dgm:prSet>
      <dgm:spPr/>
    </dgm:pt>
    <dgm:pt modelId="{07ED0C4A-C42E-B543-A14F-644B47A04BF6}" type="pres">
      <dgm:prSet presAssocID="{4C2A88CC-5DA7-4C99-B565-A5F55CD1E94A}" presName="spacer" presStyleCnt="0"/>
      <dgm:spPr/>
    </dgm:pt>
    <dgm:pt modelId="{ABAE9048-57E5-274E-929F-64E451986E4A}" type="pres">
      <dgm:prSet presAssocID="{AAE6C44E-2317-4631-944F-BDD9FF5EBDB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E18F276-A46F-ED4F-A324-7C28BBC66C3C}" type="pres">
      <dgm:prSet presAssocID="{020BA455-7F5B-442D-8F8D-A46B6F68D904}" presName="spacer" presStyleCnt="0"/>
      <dgm:spPr/>
    </dgm:pt>
    <dgm:pt modelId="{C7358630-94AF-0843-8865-BC3F03913879}" type="pres">
      <dgm:prSet presAssocID="{32F4E438-0A68-43DD-B8CB-324F04E753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F0E4E3D-2F39-C145-86F2-1A3C3427CC2D}" type="pres">
      <dgm:prSet presAssocID="{93EAFD83-9566-4342-ABE9-3D0D6350D768}" presName="spacer" presStyleCnt="0"/>
      <dgm:spPr/>
    </dgm:pt>
    <dgm:pt modelId="{3D9B2A27-F45F-9043-89E5-C6CC74BF734D}" type="pres">
      <dgm:prSet presAssocID="{99FAEDAA-FB8F-4030-BDFF-D2482DAB06D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5F37204-6B4D-9E47-AA87-FDB5D04D8FB7}" type="presOf" srcId="{6399E8C8-EB34-45F7-BAD8-6FEF3191D7F9}" destId="{07F25DEC-AE0C-064A-9379-961310D220F7}" srcOrd="0" destOrd="0" presId="urn:microsoft.com/office/officeart/2005/8/layout/vList2"/>
    <dgm:cxn modelId="{6DF96F0E-D8E0-C94E-8EC9-0EAFAEFC5DD4}" type="presOf" srcId="{AAE6C44E-2317-4631-944F-BDD9FF5EBDB4}" destId="{ABAE9048-57E5-274E-929F-64E451986E4A}" srcOrd="0" destOrd="0" presId="urn:microsoft.com/office/officeart/2005/8/layout/vList2"/>
    <dgm:cxn modelId="{B454183B-5836-4BA2-A5AA-90E42CB82651}" srcId="{6399E8C8-EB34-45F7-BAD8-6FEF3191D7F9}" destId="{D82BE15E-DB07-4C52-B124-D28874640BC1}" srcOrd="0" destOrd="0" parTransId="{82B49F21-717F-4AFD-832F-CDAEBD842048}" sibTransId="{4C2A88CC-5DA7-4C99-B565-A5F55CD1E94A}"/>
    <dgm:cxn modelId="{96E7BB44-9AD3-0F42-98A8-70EA63C50C79}" type="presOf" srcId="{99FAEDAA-FB8F-4030-BDFF-D2482DAB06DB}" destId="{3D9B2A27-F45F-9043-89E5-C6CC74BF734D}" srcOrd="0" destOrd="0" presId="urn:microsoft.com/office/officeart/2005/8/layout/vList2"/>
    <dgm:cxn modelId="{0A618B45-EE62-4F60-A5A6-435153680811}" srcId="{6399E8C8-EB34-45F7-BAD8-6FEF3191D7F9}" destId="{99FAEDAA-FB8F-4030-BDFF-D2482DAB06DB}" srcOrd="3" destOrd="0" parTransId="{C7BA5665-A714-4532-8768-FE17576557F5}" sibTransId="{548CA484-CC28-4704-8419-66DE3A11A732}"/>
    <dgm:cxn modelId="{9EDA3F88-BA9C-614A-904F-D4738044A394}" type="presOf" srcId="{32F4E438-0A68-43DD-B8CB-324F04E75314}" destId="{C7358630-94AF-0843-8865-BC3F03913879}" srcOrd="0" destOrd="0" presId="urn:microsoft.com/office/officeart/2005/8/layout/vList2"/>
    <dgm:cxn modelId="{74432A9C-323D-4447-87DD-B503407ED533}" type="presOf" srcId="{D82BE15E-DB07-4C52-B124-D28874640BC1}" destId="{DA3D6DC6-7B99-214E-BBE9-6D6465B3B3DC}" srcOrd="0" destOrd="0" presId="urn:microsoft.com/office/officeart/2005/8/layout/vList2"/>
    <dgm:cxn modelId="{0FBA3EDE-E649-4C3B-B9C5-C7DBC0B6F1BE}" srcId="{6399E8C8-EB34-45F7-BAD8-6FEF3191D7F9}" destId="{32F4E438-0A68-43DD-B8CB-324F04E75314}" srcOrd="2" destOrd="0" parTransId="{9E5062AA-3BF1-46B9-89BF-308DA634D898}" sibTransId="{93EAFD83-9566-4342-ABE9-3D0D6350D768}"/>
    <dgm:cxn modelId="{653614DF-7D26-42EC-B29A-9271F6783E13}" srcId="{6399E8C8-EB34-45F7-BAD8-6FEF3191D7F9}" destId="{AAE6C44E-2317-4631-944F-BDD9FF5EBDB4}" srcOrd="1" destOrd="0" parTransId="{E839E57E-4409-43B6-9BFA-E09F27087E4F}" sibTransId="{020BA455-7F5B-442D-8F8D-A46B6F68D904}"/>
    <dgm:cxn modelId="{DE4D1FE6-3800-7849-B5FB-C522C86BBD06}" type="presParOf" srcId="{07F25DEC-AE0C-064A-9379-961310D220F7}" destId="{DA3D6DC6-7B99-214E-BBE9-6D6465B3B3DC}" srcOrd="0" destOrd="0" presId="urn:microsoft.com/office/officeart/2005/8/layout/vList2"/>
    <dgm:cxn modelId="{E2108A4C-3CFA-3441-BA7C-85FAD1560F6B}" type="presParOf" srcId="{07F25DEC-AE0C-064A-9379-961310D220F7}" destId="{07ED0C4A-C42E-B543-A14F-644B47A04BF6}" srcOrd="1" destOrd="0" presId="urn:microsoft.com/office/officeart/2005/8/layout/vList2"/>
    <dgm:cxn modelId="{2208243D-BEBB-A14B-A14A-FE91C219218E}" type="presParOf" srcId="{07F25DEC-AE0C-064A-9379-961310D220F7}" destId="{ABAE9048-57E5-274E-929F-64E451986E4A}" srcOrd="2" destOrd="0" presId="urn:microsoft.com/office/officeart/2005/8/layout/vList2"/>
    <dgm:cxn modelId="{FC2D521E-2C59-A740-9130-2FA212ACF7AC}" type="presParOf" srcId="{07F25DEC-AE0C-064A-9379-961310D220F7}" destId="{BE18F276-A46F-ED4F-A324-7C28BBC66C3C}" srcOrd="3" destOrd="0" presId="urn:microsoft.com/office/officeart/2005/8/layout/vList2"/>
    <dgm:cxn modelId="{8B7DBE64-86EA-4540-B31E-7D2C8C109DC4}" type="presParOf" srcId="{07F25DEC-AE0C-064A-9379-961310D220F7}" destId="{C7358630-94AF-0843-8865-BC3F03913879}" srcOrd="4" destOrd="0" presId="urn:microsoft.com/office/officeart/2005/8/layout/vList2"/>
    <dgm:cxn modelId="{45159F93-1ED5-FB4E-83FE-22AEA53B93D0}" type="presParOf" srcId="{07F25DEC-AE0C-064A-9379-961310D220F7}" destId="{EF0E4E3D-2F39-C145-86F2-1A3C3427CC2D}" srcOrd="5" destOrd="0" presId="urn:microsoft.com/office/officeart/2005/8/layout/vList2"/>
    <dgm:cxn modelId="{4DCA34EF-F4E3-6D4B-8A91-8F83E6ACF471}" type="presParOf" srcId="{07F25DEC-AE0C-064A-9379-961310D220F7}" destId="{3D9B2A27-F45F-9043-89E5-C6CC74BF734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9C360-F5EB-431B-99C7-982B5AE000AA}">
      <dsp:nvSpPr>
        <dsp:cNvPr id="0" name=""/>
        <dsp:cNvSpPr/>
      </dsp:nvSpPr>
      <dsp:spPr>
        <a:xfrm>
          <a:off x="1884712" y="31869"/>
          <a:ext cx="3203899" cy="1978607"/>
        </a:xfrm>
        <a:prstGeom prst="rect">
          <a:avLst/>
        </a:prstGeom>
        <a:solidFill>
          <a:schemeClr val="bg2">
            <a:lumMod val="9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b="1" kern="1200" dirty="0">
              <a:solidFill>
                <a:schemeClr val="tx1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Bivariate Association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accent2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direction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accent2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strength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accent2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statistical significance</a:t>
          </a:r>
        </a:p>
      </dsp:txBody>
      <dsp:txXfrm>
        <a:off x="1884712" y="31869"/>
        <a:ext cx="3203899" cy="1978607"/>
      </dsp:txXfrm>
    </dsp:sp>
    <dsp:sp modelId="{0345D4E3-BB8F-4EAC-9EAC-5550360AD16F}">
      <dsp:nvSpPr>
        <dsp:cNvPr id="0" name=""/>
        <dsp:cNvSpPr/>
      </dsp:nvSpPr>
      <dsp:spPr>
        <a:xfrm>
          <a:off x="5315076" y="31364"/>
          <a:ext cx="3142744" cy="1981583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Bivariate Categorical Analysis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rPr>
            <a:t>contingency tables</a:t>
          </a:r>
        </a:p>
      </dsp:txBody>
      <dsp:txXfrm>
        <a:off x="5315076" y="31364"/>
        <a:ext cx="3142744" cy="1981583"/>
      </dsp:txXfrm>
    </dsp:sp>
    <dsp:sp modelId="{B8C3EB68-B8D6-4E28-96CB-53650E020E22}">
      <dsp:nvSpPr>
        <dsp:cNvPr id="0" name=""/>
        <dsp:cNvSpPr/>
      </dsp:nvSpPr>
      <dsp:spPr>
        <a:xfrm>
          <a:off x="2652607" y="2438016"/>
          <a:ext cx="4866640" cy="1981583"/>
        </a:xfrm>
        <a:prstGeom prst="rect">
          <a:avLst/>
        </a:prstGeom>
        <a:solidFill>
          <a:schemeClr val="tx2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b="1" kern="1200" dirty="0">
              <a:solidFill>
                <a:schemeClr val="tx1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Hypothesis Testing for Bivariate Categorical Analysis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solidFill>
                <a:srgbClr val="C00000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rPr>
            <a:t>Chi-squared test</a:t>
          </a:r>
        </a:p>
      </dsp:txBody>
      <dsp:txXfrm>
        <a:off x="2652607" y="2438016"/>
        <a:ext cx="4866640" cy="19815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00C4A9-77C3-4541-A58D-E274DEDEC6E7}">
      <dsp:nvSpPr>
        <dsp:cNvPr id="0" name=""/>
        <dsp:cNvSpPr/>
      </dsp:nvSpPr>
      <dsp:spPr>
        <a:xfrm rot="5400000">
          <a:off x="5453704" y="-2011947"/>
          <a:ext cx="1422757" cy="5802431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 change in X </a:t>
          </a:r>
          <a:r>
            <a:rPr lang="en-US" sz="1800" b="1" u="sng" kern="1200" dirty="0">
              <a:latin typeface="Arial" panose="020B0604020202020204" pitchFamily="34" charset="0"/>
              <a:cs typeface="Arial" panose="020B0604020202020204" pitchFamily="34" charset="0"/>
            </a:rPr>
            <a:t>produces/causes 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 change in Y</a:t>
          </a:r>
        </a:p>
      </dsp:txBody>
      <dsp:txXfrm rot="-5400000">
        <a:off x="3263868" y="247342"/>
        <a:ext cx="5732978" cy="1283851"/>
      </dsp:txXfrm>
    </dsp:sp>
    <dsp:sp modelId="{BEBE81F9-8792-DA4C-A2F3-9923A1EE5DB3}">
      <dsp:nvSpPr>
        <dsp:cNvPr id="0" name=""/>
        <dsp:cNvSpPr/>
      </dsp:nvSpPr>
      <dsp:spPr>
        <a:xfrm>
          <a:off x="0" y="44"/>
          <a:ext cx="3263867" cy="177844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Causation</a:t>
          </a:r>
        </a:p>
      </dsp:txBody>
      <dsp:txXfrm>
        <a:off x="86817" y="86861"/>
        <a:ext cx="3090233" cy="1604812"/>
      </dsp:txXfrm>
    </dsp:sp>
    <dsp:sp modelId="{482AEE91-864F-8D45-A75F-592D6618A211}">
      <dsp:nvSpPr>
        <dsp:cNvPr id="0" name=""/>
        <dsp:cNvSpPr/>
      </dsp:nvSpPr>
      <dsp:spPr>
        <a:xfrm rot="5400000">
          <a:off x="5453704" y="-144578"/>
          <a:ext cx="1422757" cy="5802431"/>
        </a:xfrm>
        <a:prstGeom prst="round2SameRect">
          <a:avLst/>
        </a:prstGeom>
        <a:solidFill>
          <a:schemeClr val="accent5">
            <a:tint val="40000"/>
            <a:alpha val="90000"/>
            <a:hueOff val="2266664"/>
            <a:satOff val="-19882"/>
            <a:lumOff val="-1583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2266664"/>
              <a:satOff val="-19882"/>
              <a:lumOff val="-15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 change in X </a:t>
          </a:r>
          <a:r>
            <a:rPr lang="en-US" sz="1800" b="1" u="sng" kern="1200" dirty="0">
              <a:latin typeface="Arial" panose="020B0604020202020204" pitchFamily="34" charset="0"/>
              <a:cs typeface="Arial" panose="020B0604020202020204" pitchFamily="34" charset="0"/>
            </a:rPr>
            <a:t>coincides with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a change in Y</a:t>
          </a:r>
        </a:p>
      </dsp:txBody>
      <dsp:txXfrm rot="-5400000">
        <a:off x="3263868" y="2114711"/>
        <a:ext cx="5732978" cy="1283851"/>
      </dsp:txXfrm>
    </dsp:sp>
    <dsp:sp modelId="{49D4687D-0F34-414C-8E0B-E9719161326E}">
      <dsp:nvSpPr>
        <dsp:cNvPr id="0" name=""/>
        <dsp:cNvSpPr/>
      </dsp:nvSpPr>
      <dsp:spPr>
        <a:xfrm>
          <a:off x="0" y="1867413"/>
          <a:ext cx="3263867" cy="1778446"/>
        </a:xfrm>
        <a:prstGeom prst="round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Association</a:t>
          </a:r>
        </a:p>
      </dsp:txBody>
      <dsp:txXfrm>
        <a:off x="86817" y="1954230"/>
        <a:ext cx="3090233" cy="1604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D6DC6-7B99-214E-BBE9-6D6465B3B3DC}">
      <dsp:nvSpPr>
        <dsp:cNvPr id="0" name=""/>
        <dsp:cNvSpPr/>
      </dsp:nvSpPr>
      <dsp:spPr>
        <a:xfrm>
          <a:off x="0" y="65311"/>
          <a:ext cx="5430191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Cause and effect should occur close together.</a:t>
          </a:r>
        </a:p>
      </dsp:txBody>
      <dsp:txXfrm>
        <a:off x="50489" y="115800"/>
        <a:ext cx="5329213" cy="933302"/>
      </dsp:txXfrm>
    </dsp:sp>
    <dsp:sp modelId="{ABAE9048-57E5-274E-929F-64E451986E4A}">
      <dsp:nvSpPr>
        <dsp:cNvPr id="0" name=""/>
        <dsp:cNvSpPr/>
      </dsp:nvSpPr>
      <dsp:spPr>
        <a:xfrm>
          <a:off x="0" y="1170276"/>
          <a:ext cx="5430191" cy="1034280"/>
        </a:xfrm>
        <a:prstGeom prst="roundRect">
          <a:avLst/>
        </a:prstGeom>
        <a:solidFill>
          <a:schemeClr val="accent5">
            <a:hueOff val="709040"/>
            <a:satOff val="-7964"/>
            <a:lumOff val="-169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 cause should come </a:t>
          </a:r>
          <a:r>
            <a:rPr lang="en-US" sz="2600" i="1" kern="1200" dirty="0"/>
            <a:t>before</a:t>
          </a:r>
          <a:r>
            <a:rPr lang="en-US" sz="2600" kern="1200" dirty="0"/>
            <a:t> the effect.</a:t>
          </a:r>
        </a:p>
      </dsp:txBody>
      <dsp:txXfrm>
        <a:off x="50489" y="1220765"/>
        <a:ext cx="5329213" cy="933302"/>
      </dsp:txXfrm>
    </dsp:sp>
    <dsp:sp modelId="{C7358630-94AF-0843-8865-BC3F03913879}">
      <dsp:nvSpPr>
        <dsp:cNvPr id="0" name=""/>
        <dsp:cNvSpPr/>
      </dsp:nvSpPr>
      <dsp:spPr>
        <a:xfrm>
          <a:off x="0" y="2279437"/>
          <a:ext cx="5430191" cy="1034280"/>
        </a:xfrm>
        <a:prstGeom prst="roundRect">
          <a:avLst/>
        </a:prstGeom>
        <a:solidFill>
          <a:schemeClr val="accent5">
            <a:hueOff val="1418080"/>
            <a:satOff val="-15927"/>
            <a:lumOff val="-339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When the cause is absent, the effect should be absent.</a:t>
          </a:r>
        </a:p>
      </dsp:txBody>
      <dsp:txXfrm>
        <a:off x="50489" y="2329926"/>
        <a:ext cx="5329213" cy="933302"/>
      </dsp:txXfrm>
    </dsp:sp>
    <dsp:sp modelId="{3D9B2A27-F45F-9043-89E5-C6CC74BF734D}">
      <dsp:nvSpPr>
        <dsp:cNvPr id="0" name=""/>
        <dsp:cNvSpPr/>
      </dsp:nvSpPr>
      <dsp:spPr>
        <a:xfrm>
          <a:off x="0" y="3388597"/>
          <a:ext cx="5430191" cy="1034280"/>
        </a:xfrm>
        <a:prstGeom prst="round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When the cause is present, the effect should be present.</a:t>
          </a:r>
        </a:p>
      </dsp:txBody>
      <dsp:txXfrm>
        <a:off x="50489" y="3439086"/>
        <a:ext cx="5329213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30D3F-55E8-4AC3-B16A-7B1677A9F4C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9F0441-A68F-42EA-9918-AA2C4CFB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3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F0441-A68F-42EA-9918-AA2C4CFBEE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64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ED43C7-FD39-4754-A672-5636E4B6E22B}" type="slidenum">
              <a:rPr lang="en-GB" altLang="en-US" sz="1200">
                <a:latin typeface="Times New Roman" panose="02020603050405020304" pitchFamily="18" charset="0"/>
              </a:rPr>
              <a:pPr/>
              <a:t>5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495550" y="1084263"/>
            <a:ext cx="9674225" cy="544195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4031" y="6887446"/>
            <a:ext cx="3431624" cy="652580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5025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5327" indent="-286664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6658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5321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3984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22647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81310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9973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8636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8A4464-9F80-4D65-A235-C9DB0A774FB3}" type="slidenum">
              <a:rPr lang="en-GB" altLang="en-US" sz="1200"/>
              <a:pPr/>
              <a:t>6</a:t>
            </a:fld>
            <a:endParaRPr lang="en-GB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9310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5327" indent="-286664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6658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5321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3984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22647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81310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9973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8636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8A4464-9F80-4D65-A235-C9DB0A774FB3}" type="slidenum">
              <a:rPr lang="en-GB" altLang="en-US" sz="1200"/>
              <a:pPr/>
              <a:t>14</a:t>
            </a:fld>
            <a:endParaRPr lang="en-GB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8774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80/130 * 100% = 61.5%</a:t>
            </a:r>
          </a:p>
          <a:p>
            <a:r>
              <a:rPr lang="en-US" dirty="0"/>
              <a:t>50/130 * 100% = 38.5%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F0441-A68F-42EA-9918-AA2C4CFBEE7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04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5327" indent="-286664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6658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5321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3984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22647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81310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9973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8636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DCFEBF-A48F-4FCA-BB6A-43FA09BF706A}" type="slidenum">
              <a:rPr lang="en-GB" altLang="en-US" sz="1200"/>
              <a:pPr/>
              <a:t>18</a:t>
            </a:fld>
            <a:endParaRPr lang="en-GB" altLang="en-US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14661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5327" indent="-286664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6658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5321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3984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22647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81310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9973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8636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C3FF9A-31C4-4D80-AEC4-F1991D073B2E}" type="slidenum">
              <a:rPr lang="en-GB" altLang="en-US" sz="1200"/>
              <a:pPr/>
              <a:t>19</a:t>
            </a:fld>
            <a:endParaRPr lang="en-GB" altLang="en-US" sz="12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2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5327" indent="-286664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6658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5321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3984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22647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81310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9973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8636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BCD1FF-3B5E-43B4-B067-CF4FFBBC71EC}" type="slidenum">
              <a:rPr lang="en-GB" altLang="en-US" sz="1200"/>
              <a:pPr/>
              <a:t>21</a:t>
            </a:fld>
            <a:endParaRPr lang="en-GB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2950"/>
            <a:ext cx="6615112" cy="3722688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768" y="4715058"/>
            <a:ext cx="5441316" cy="4467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Both columns add up to 100%, you can make comparisons</a:t>
            </a:r>
            <a:r>
              <a:rPr lang="en-US" altLang="en-US" baseline="0" dirty="0"/>
              <a:t> across the columns.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3797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EFDFD5-F90A-41BE-A486-30EECA5C9629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171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ED43C7-FD39-4754-A672-5636E4B6E22B}" type="slidenum">
              <a:rPr lang="en-GB" altLang="en-US" sz="1200">
                <a:latin typeface="Times New Roman" panose="02020603050405020304" pitchFamily="18" charset="0"/>
              </a:rPr>
              <a:pPr/>
              <a:t>26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498725" y="1084263"/>
            <a:ext cx="9677400" cy="5445125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740" y="6890750"/>
            <a:ext cx="3430021" cy="652893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3077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5327" indent="-286664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6658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5321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3984" indent="-229332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22647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81310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9973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8636" indent="-229332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8A4464-9F80-4D65-A235-C9DB0A774FB3}" type="slidenum">
              <a:rPr lang="en-GB" altLang="en-US" sz="1200"/>
              <a:pPr/>
              <a:t>27</a:t>
            </a:fld>
            <a:endParaRPr lang="en-GB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1119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2BD2FD-C9EF-4F5B-AF37-F325BB70F95C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92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EB56A6-14D2-47D7-A39A-B6F590C550A6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81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EB56A6-14D2-47D7-A39A-B6F590C550A6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29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4FC29A-B294-406B-B2B1-DA1055452B4B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76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66D11-1859-48DC-A6B5-7DEB19FA30EA}" type="slidenum">
              <a:rPr lang="da-DK" smtClean="0"/>
              <a:pPr/>
              <a:t>32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20589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66D11-1859-48DC-A6B5-7DEB19FA30EA}" type="slidenum">
              <a:rPr lang="da-DK" smtClean="0"/>
              <a:pPr/>
              <a:t>33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75436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66D11-1859-48DC-A6B5-7DEB19FA30EA}" type="slidenum">
              <a:rPr lang="da-DK" smtClean="0"/>
              <a:pPr/>
              <a:t>35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472932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51494" indent="-289036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56145" indent="-231229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18602" indent="-231229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81060" indent="-231229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43518" indent="-23122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3005976" indent="-23122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68434" indent="-23122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930891" indent="-23122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108DF8B-4979-4008-B020-8E924BE15A04}" type="slidenum">
              <a:rPr lang="en-US" altLang="en-US" smtClean="0"/>
              <a:pPr algn="r" eaLnBrk="1" hangingPunct="1"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0357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76BC4C8-ECAB-41E1-B5EB-745E663125E7}" type="slidenum">
              <a:rPr lang="en-GB" altLang="en-US" sz="1200"/>
              <a:pPr/>
              <a:t>40</a:t>
            </a:fld>
            <a:endParaRPr lang="en-GB" alt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363" y="738188"/>
            <a:ext cx="6584950" cy="3705225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9965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" y="6334320"/>
            <a:ext cx="12188825" cy="64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5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2" y="4455623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0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3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6" y="6334320"/>
            <a:ext cx="12188825" cy="64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5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5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127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4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6"/>
            <a:ext cx="4937760" cy="337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4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6"/>
            <a:ext cx="4937760" cy="337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3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7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6" y="6334320"/>
            <a:ext cx="12188825" cy="64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69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05079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91"/>
            <a:ext cx="2618510" cy="365123"/>
          </a:xfrm>
        </p:spPr>
        <p:txBody>
          <a:bodyPr/>
          <a:lstStyle>
            <a:lvl1pPr algn="l">
              <a:defRPr/>
            </a:lvl1pPr>
          </a:lstStyle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91"/>
            <a:ext cx="4648200" cy="365123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6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6" y="4915080"/>
            <a:ext cx="12188825" cy="64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3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" y="4"/>
            <a:ext cx="12191985" cy="4915073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3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2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0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6" y="6334320"/>
            <a:ext cx="12188825" cy="64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80"/>
            <a:ext cx="2628900" cy="5757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80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12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457200"/>
            <a:ext cx="11013017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914400" y="1905000"/>
            <a:ext cx="5334000" cy="4114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600" y="1905000"/>
            <a:ext cx="5334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4D4A30-6E82-4FDA-A005-0FC6EB3FE6FC}" type="slidenum">
              <a:rPr lang="en-US" altLang="zh-CN"/>
              <a:pPr/>
              <a:t>‹#›</a:t>
            </a:fld>
            <a:r>
              <a:rPr lang="en-US" altLang="zh-CN"/>
              <a:t>Exploratory Data Analysis. CCSR, 2001</a:t>
            </a:r>
          </a:p>
        </p:txBody>
      </p:sp>
    </p:spTree>
    <p:extLst>
      <p:ext uri="{BB962C8B-B14F-4D97-AF65-F5344CB8AC3E}">
        <p14:creationId xmlns:p14="http://schemas.microsoft.com/office/powerpoint/2010/main" val="105915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3"/>
            <a:ext cx="12192002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5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1" y="6459791"/>
            <a:ext cx="2472272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8E3790F-7BB2-4195-88F0-5E8F35647A3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91"/>
            <a:ext cx="4822803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9" y="6459791"/>
            <a:ext cx="1312025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8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07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7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LCommons@qc.cuny.edu" TargetMode="External"/><Relationship Id="rId4" Type="http://schemas.openxmlformats.org/officeDocument/2006/relationships/hyperlink" Target="https://mywco.com/qclc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CFFC-9346-4097-ADDD-A3709E899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9" y="758955"/>
            <a:ext cx="11174638" cy="3566160"/>
          </a:xfrm>
        </p:spPr>
        <p:txBody>
          <a:bodyPr>
            <a:normAutofit/>
          </a:bodyPr>
          <a:lstStyle/>
          <a:p>
            <a:pPr algn="l"/>
            <a:r>
              <a:rPr lang="en-US" sz="7000" dirty="0">
                <a:latin typeface="Arial Black" panose="020B0A04020102020204" pitchFamily="34" charset="0"/>
                <a:cs typeface="Aldhabi" panose="020B0604020202020204" pitchFamily="2" charset="-78"/>
              </a:rPr>
              <a:t>Data 205 Lecture 12 </a:t>
            </a:r>
            <a:br>
              <a:rPr lang="en-US" dirty="0">
                <a:latin typeface="Arial Black" panose="020B0A04020102020204" pitchFamily="34" charset="0"/>
                <a:cs typeface="Aldhabi" panose="020B0604020202020204" pitchFamily="2" charset="-78"/>
              </a:rPr>
            </a:br>
            <a:r>
              <a:rPr lang="en-US" sz="5000" dirty="0">
                <a:latin typeface="Arial Black" panose="020B0A04020102020204" pitchFamily="34" charset="0"/>
                <a:cs typeface="Aldhabi" panose="020B0604020202020204" pitchFamily="2" charset="-78"/>
              </a:rPr>
              <a:t>Measuring Association with Categorical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1E9B1-A226-4880-BEC0-F2A5DCDA2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0" y="4557078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Yinxian Zhang</a:t>
            </a:r>
          </a:p>
          <a:p>
            <a:pPr algn="l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 of Sociology</a:t>
            </a:r>
          </a:p>
          <a:p>
            <a:pPr algn="l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Queens College,</a:t>
            </a:r>
            <a:r>
              <a:rPr lang="zh-CN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CUNY </a:t>
            </a:r>
          </a:p>
        </p:txBody>
      </p:sp>
    </p:spTree>
    <p:extLst>
      <p:ext uri="{BB962C8B-B14F-4D97-AF65-F5344CB8AC3E}">
        <p14:creationId xmlns:p14="http://schemas.microsoft.com/office/powerpoint/2010/main" val="3640744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84B69-0C6D-46B6-A3E6-5B0909395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6940"/>
            <a:ext cx="10058400" cy="1450755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Today’s Content</a:t>
            </a:r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00753CB8-EEB5-4C63-A40E-B356FEC38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5974683"/>
              </p:ext>
            </p:extLst>
          </p:nvPr>
        </p:nvGraphicFramePr>
        <p:xfrm>
          <a:off x="1038352" y="1800516"/>
          <a:ext cx="10251757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0709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5422903-FFB3-C0A5-70AC-14FF03809E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724181"/>
              </p:ext>
            </p:extLst>
          </p:nvPr>
        </p:nvGraphicFramePr>
        <p:xfrm>
          <a:off x="501912" y="0"/>
          <a:ext cx="5187129" cy="6712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2914650" imgH="3771900" progId="Acrobat.Document.DC">
                  <p:embed/>
                </p:oleObj>
              </mc:Choice>
              <mc:Fallback>
                <p:oleObj name="Acrobat Document" r:id="rId2" imgW="2914650" imgH="3771900" progId="Acrobat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5422903-FFB3-C0A5-70AC-14FF03809E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1912" y="0"/>
                        <a:ext cx="5187129" cy="6712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AF649DB-4C0A-FBA3-284E-1B82F9643A41}"/>
              </a:ext>
            </a:extLst>
          </p:cNvPr>
          <p:cNvSpPr txBox="1"/>
          <p:nvPr/>
        </p:nvSpPr>
        <p:spPr>
          <a:xfrm>
            <a:off x="6096000" y="1371659"/>
            <a:ext cx="6096836" cy="3755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200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Learning Commons, 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academic support center, offers support for the following DATA courses</a:t>
            </a:r>
            <a:r>
              <a:rPr lang="en-US" sz="18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800" b="0" i="0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en-US" b="0" i="0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205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R Programming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SQL Programming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306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333</a:t>
            </a:r>
            <a:endParaRPr lang="en-US" sz="1800" b="0" i="0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b="0" i="0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sz="1800" b="1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Students can make appointments directly on this site: </a:t>
            </a:r>
            <a:r>
              <a:rPr lang="en-US" sz="1800" b="1" i="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 tooltip="Original URL: https://mywco.com/qclc. Click or tap if you trust this link."/>
              </a:rPr>
              <a:t>https://mywco.com/qclc</a:t>
            </a:r>
            <a:r>
              <a:rPr lang="en-US" sz="1800" b="1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b="1" i="0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b="0" i="0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Questions? Email </a:t>
            </a:r>
            <a:r>
              <a:rPr lang="en-US" sz="1800" b="0" i="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mailto:LCommons@qc.cuny.edu"/>
              </a:rPr>
              <a:t>LCommons@qc.cuny.edu</a:t>
            </a:r>
            <a:endParaRPr lang="en-US" b="0" i="0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82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226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 Black" panose="020B0A04020102020204" pitchFamily="34" charset="0"/>
                <a:cs typeface="Arial" panose="020B0604020202020204" pitchFamily="34" charset="0"/>
              </a:rPr>
              <a:t>Recap</a:t>
            </a:r>
            <a:endParaRPr lang="en-GB" altLang="en-US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10032"/>
            <a:ext cx="8153400" cy="4764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4888495" y="4016607"/>
            <a:ext cx="25477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i="1" dirty="0">
                <a:cs typeface="Arial" panose="020B0604020202020204" pitchFamily="34" charset="0"/>
              </a:rPr>
              <a:t>statistical inference  </a:t>
            </a:r>
            <a:endParaRPr kumimoji="0" lang="en-GB" altLang="en-US" sz="2000" i="1" dirty="0">
              <a:cs typeface="Arial" panose="020B0604020202020204" pitchFamily="34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451212" y="2612463"/>
            <a:ext cx="16391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i="1" dirty="0">
                <a:cs typeface="Arial" panose="020B0604020202020204" pitchFamily="34" charset="0"/>
              </a:rPr>
              <a:t>sampling</a:t>
            </a:r>
            <a:endParaRPr kumimoji="0" lang="en-GB" altLang="en-US" sz="1800" i="1" dirty="0">
              <a:cs typeface="Arial" panose="020B0604020202020204" pitchFamily="34" charset="0"/>
            </a:endParaRPr>
          </a:p>
        </p:txBody>
      </p:sp>
      <p:grpSp>
        <p:nvGrpSpPr>
          <p:cNvPr id="14" name="Group 5"/>
          <p:cNvGrpSpPr>
            <a:grpSpLocks/>
          </p:cNvGrpSpPr>
          <p:nvPr/>
        </p:nvGrpSpPr>
        <p:grpSpPr bwMode="auto">
          <a:xfrm>
            <a:off x="2644512" y="2071949"/>
            <a:ext cx="5040312" cy="2071688"/>
            <a:chOff x="884" y="2805"/>
            <a:chExt cx="3175" cy="1305"/>
          </a:xfrm>
        </p:grpSpPr>
        <p:sp>
          <p:nvSpPr>
            <p:cNvPr id="15" name="Oval 6"/>
            <p:cNvSpPr>
              <a:spLocks noChangeArrowheads="1"/>
            </p:cNvSpPr>
            <p:nvPr/>
          </p:nvSpPr>
          <p:spPr bwMode="auto">
            <a:xfrm>
              <a:off x="884" y="3067"/>
              <a:ext cx="1361" cy="104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7"/>
            <p:cNvSpPr>
              <a:spLocks noChangeArrowheads="1"/>
            </p:cNvSpPr>
            <p:nvPr/>
          </p:nvSpPr>
          <p:spPr bwMode="auto">
            <a:xfrm>
              <a:off x="975" y="3521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8"/>
            <p:cNvSpPr>
              <a:spLocks noChangeArrowheads="1"/>
            </p:cNvSpPr>
            <p:nvPr/>
          </p:nvSpPr>
          <p:spPr bwMode="auto">
            <a:xfrm>
              <a:off x="1111" y="3657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9"/>
            <p:cNvSpPr>
              <a:spLocks noChangeArrowheads="1"/>
            </p:cNvSpPr>
            <p:nvPr/>
          </p:nvSpPr>
          <p:spPr bwMode="auto">
            <a:xfrm>
              <a:off x="1247" y="3793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0"/>
            <p:cNvSpPr>
              <a:spLocks noChangeArrowheads="1"/>
            </p:cNvSpPr>
            <p:nvPr/>
          </p:nvSpPr>
          <p:spPr bwMode="auto">
            <a:xfrm>
              <a:off x="1791" y="3793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1"/>
            <p:cNvSpPr>
              <a:spLocks noChangeArrowheads="1"/>
            </p:cNvSpPr>
            <p:nvPr/>
          </p:nvSpPr>
          <p:spPr bwMode="auto">
            <a:xfrm>
              <a:off x="1610" y="3657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12"/>
            <p:cNvSpPr>
              <a:spLocks noChangeArrowheads="1"/>
            </p:cNvSpPr>
            <p:nvPr/>
          </p:nvSpPr>
          <p:spPr bwMode="auto">
            <a:xfrm>
              <a:off x="1338" y="3249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13"/>
            <p:cNvSpPr>
              <a:spLocks noChangeArrowheads="1"/>
            </p:cNvSpPr>
            <p:nvPr/>
          </p:nvSpPr>
          <p:spPr bwMode="auto">
            <a:xfrm>
              <a:off x="1474" y="3566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14"/>
            <p:cNvSpPr>
              <a:spLocks noChangeArrowheads="1"/>
            </p:cNvSpPr>
            <p:nvPr/>
          </p:nvSpPr>
          <p:spPr bwMode="auto">
            <a:xfrm>
              <a:off x="1746" y="3430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val 15"/>
            <p:cNvSpPr>
              <a:spLocks noChangeArrowheads="1"/>
            </p:cNvSpPr>
            <p:nvPr/>
          </p:nvSpPr>
          <p:spPr bwMode="auto">
            <a:xfrm>
              <a:off x="1383" y="3929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val 16"/>
            <p:cNvSpPr>
              <a:spLocks noChangeArrowheads="1"/>
            </p:cNvSpPr>
            <p:nvPr/>
          </p:nvSpPr>
          <p:spPr bwMode="auto">
            <a:xfrm>
              <a:off x="1610" y="3974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val 17"/>
            <p:cNvSpPr>
              <a:spLocks noChangeArrowheads="1"/>
            </p:cNvSpPr>
            <p:nvPr/>
          </p:nvSpPr>
          <p:spPr bwMode="auto">
            <a:xfrm>
              <a:off x="1292" y="3475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18"/>
            <p:cNvSpPr>
              <a:spLocks noChangeArrowheads="1"/>
            </p:cNvSpPr>
            <p:nvPr/>
          </p:nvSpPr>
          <p:spPr bwMode="auto">
            <a:xfrm>
              <a:off x="1927" y="3612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19"/>
            <p:cNvSpPr>
              <a:spLocks noChangeArrowheads="1"/>
            </p:cNvSpPr>
            <p:nvPr/>
          </p:nvSpPr>
          <p:spPr bwMode="auto">
            <a:xfrm>
              <a:off x="1474" y="3158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20"/>
            <p:cNvSpPr>
              <a:spLocks noChangeArrowheads="1"/>
            </p:cNvSpPr>
            <p:nvPr/>
          </p:nvSpPr>
          <p:spPr bwMode="auto">
            <a:xfrm>
              <a:off x="1519" y="3385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21"/>
            <p:cNvSpPr>
              <a:spLocks noChangeArrowheads="1"/>
            </p:cNvSpPr>
            <p:nvPr/>
          </p:nvSpPr>
          <p:spPr bwMode="auto">
            <a:xfrm>
              <a:off x="1927" y="3339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val 22"/>
            <p:cNvSpPr>
              <a:spLocks noChangeArrowheads="1"/>
            </p:cNvSpPr>
            <p:nvPr/>
          </p:nvSpPr>
          <p:spPr bwMode="auto">
            <a:xfrm>
              <a:off x="1746" y="3612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val 23"/>
            <p:cNvSpPr>
              <a:spLocks noChangeArrowheads="1"/>
            </p:cNvSpPr>
            <p:nvPr/>
          </p:nvSpPr>
          <p:spPr bwMode="auto">
            <a:xfrm>
              <a:off x="1474" y="3838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val 24"/>
            <p:cNvSpPr>
              <a:spLocks noChangeArrowheads="1"/>
            </p:cNvSpPr>
            <p:nvPr/>
          </p:nvSpPr>
          <p:spPr bwMode="auto">
            <a:xfrm>
              <a:off x="1066" y="3385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25"/>
            <p:cNvSpPr>
              <a:spLocks noChangeArrowheads="1"/>
            </p:cNvSpPr>
            <p:nvPr/>
          </p:nvSpPr>
          <p:spPr bwMode="auto">
            <a:xfrm>
              <a:off x="1610" y="3294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val 26"/>
            <p:cNvSpPr>
              <a:spLocks noChangeArrowheads="1"/>
            </p:cNvSpPr>
            <p:nvPr/>
          </p:nvSpPr>
          <p:spPr bwMode="auto">
            <a:xfrm>
              <a:off x="1746" y="3430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val 27"/>
            <p:cNvSpPr>
              <a:spLocks noChangeArrowheads="1"/>
            </p:cNvSpPr>
            <p:nvPr/>
          </p:nvSpPr>
          <p:spPr bwMode="auto">
            <a:xfrm>
              <a:off x="1882" y="3566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val 28"/>
            <p:cNvSpPr>
              <a:spLocks noChangeArrowheads="1"/>
            </p:cNvSpPr>
            <p:nvPr/>
          </p:nvSpPr>
          <p:spPr bwMode="auto">
            <a:xfrm>
              <a:off x="2018" y="3702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Oval 29"/>
            <p:cNvSpPr>
              <a:spLocks noChangeArrowheads="1"/>
            </p:cNvSpPr>
            <p:nvPr/>
          </p:nvSpPr>
          <p:spPr bwMode="auto">
            <a:xfrm>
              <a:off x="1338" y="3657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Oval 30"/>
            <p:cNvSpPr>
              <a:spLocks noChangeArrowheads="1"/>
            </p:cNvSpPr>
            <p:nvPr/>
          </p:nvSpPr>
          <p:spPr bwMode="auto">
            <a:xfrm>
              <a:off x="1791" y="3929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Oval 31"/>
            <p:cNvSpPr>
              <a:spLocks noChangeArrowheads="1"/>
            </p:cNvSpPr>
            <p:nvPr/>
          </p:nvSpPr>
          <p:spPr bwMode="auto">
            <a:xfrm>
              <a:off x="2018" y="3838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Oval 32"/>
            <p:cNvSpPr>
              <a:spLocks noChangeArrowheads="1"/>
            </p:cNvSpPr>
            <p:nvPr/>
          </p:nvSpPr>
          <p:spPr bwMode="auto">
            <a:xfrm>
              <a:off x="2109" y="3521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Oval 33"/>
            <p:cNvSpPr>
              <a:spLocks noChangeArrowheads="1"/>
            </p:cNvSpPr>
            <p:nvPr/>
          </p:nvSpPr>
          <p:spPr bwMode="auto">
            <a:xfrm>
              <a:off x="1202" y="3294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Oval 34"/>
            <p:cNvSpPr>
              <a:spLocks noChangeArrowheads="1"/>
            </p:cNvSpPr>
            <p:nvPr/>
          </p:nvSpPr>
          <p:spPr bwMode="auto">
            <a:xfrm>
              <a:off x="1156" y="3521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Oval 35"/>
            <p:cNvSpPr>
              <a:spLocks noChangeArrowheads="1"/>
            </p:cNvSpPr>
            <p:nvPr/>
          </p:nvSpPr>
          <p:spPr bwMode="auto">
            <a:xfrm>
              <a:off x="3651" y="3521"/>
              <a:ext cx="408" cy="3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 Box 36"/>
            <p:cNvSpPr txBox="1">
              <a:spLocks noChangeArrowheads="1"/>
            </p:cNvSpPr>
            <p:nvPr/>
          </p:nvSpPr>
          <p:spPr bwMode="auto">
            <a:xfrm>
              <a:off x="1088" y="2805"/>
              <a:ext cx="94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population</a:t>
              </a:r>
            </a:p>
          </p:txBody>
        </p:sp>
        <p:sp>
          <p:nvSpPr>
            <p:cNvPr id="46" name="Line 37"/>
            <p:cNvSpPr>
              <a:spLocks noChangeShapeType="1"/>
            </p:cNvSpPr>
            <p:nvPr/>
          </p:nvSpPr>
          <p:spPr bwMode="auto">
            <a:xfrm>
              <a:off x="2064" y="3339"/>
              <a:ext cx="1451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Line 38"/>
            <p:cNvSpPr>
              <a:spLocks noChangeShapeType="1"/>
            </p:cNvSpPr>
            <p:nvPr/>
          </p:nvSpPr>
          <p:spPr bwMode="auto">
            <a:xfrm flipH="1">
              <a:off x="2381" y="3793"/>
              <a:ext cx="1270" cy="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Oval 40"/>
            <p:cNvSpPr>
              <a:spLocks noChangeArrowheads="1"/>
            </p:cNvSpPr>
            <p:nvPr/>
          </p:nvSpPr>
          <p:spPr bwMode="auto">
            <a:xfrm>
              <a:off x="3833" y="3566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Oval 41"/>
            <p:cNvSpPr>
              <a:spLocks noChangeArrowheads="1"/>
            </p:cNvSpPr>
            <p:nvPr/>
          </p:nvSpPr>
          <p:spPr bwMode="auto">
            <a:xfrm>
              <a:off x="3696" y="3657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val 42"/>
            <p:cNvSpPr>
              <a:spLocks noChangeArrowheads="1"/>
            </p:cNvSpPr>
            <p:nvPr/>
          </p:nvSpPr>
          <p:spPr bwMode="auto">
            <a:xfrm>
              <a:off x="3787" y="3657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Oval 43"/>
            <p:cNvSpPr>
              <a:spLocks noChangeArrowheads="1"/>
            </p:cNvSpPr>
            <p:nvPr/>
          </p:nvSpPr>
          <p:spPr bwMode="auto">
            <a:xfrm>
              <a:off x="3878" y="3702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3" name="Text Box 36"/>
          <p:cNvSpPr txBox="1">
            <a:spLocks noChangeArrowheads="1"/>
          </p:cNvSpPr>
          <p:nvPr/>
        </p:nvSpPr>
        <p:spPr bwMode="auto">
          <a:xfrm>
            <a:off x="8067361" y="3354912"/>
            <a:ext cx="10967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ACFCC4-155A-43DC-856E-2C578F6470E7}" type="slidenum">
              <a:rPr lang="da-DK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da-DK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0B19FA36-4966-CCD4-B10F-89BE12C1A8B8}"/>
              </a:ext>
            </a:extLst>
          </p:cNvPr>
          <p:cNvSpPr/>
          <p:nvPr/>
        </p:nvSpPr>
        <p:spPr>
          <a:xfrm>
            <a:off x="3619073" y="4288100"/>
            <a:ext cx="104938" cy="502806"/>
          </a:xfrm>
          <a:prstGeom prst="up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E13E8AFE-D899-0034-609E-E7C05034F836}"/>
              </a:ext>
            </a:extLst>
          </p:cNvPr>
          <p:cNvSpPr/>
          <p:nvPr/>
        </p:nvSpPr>
        <p:spPr>
          <a:xfrm>
            <a:off x="8600777" y="4217345"/>
            <a:ext cx="104938" cy="502920"/>
          </a:xfrm>
          <a:prstGeom prst="up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A5282-939F-F218-4EDC-54A6E611EEE6}"/>
              </a:ext>
            </a:extLst>
          </p:cNvPr>
          <p:cNvSpPr txBox="1"/>
          <p:nvPr/>
        </p:nvSpPr>
        <p:spPr>
          <a:xfrm>
            <a:off x="986208" y="4878508"/>
            <a:ext cx="486543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characteristics of the population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4683D-45C4-4005-5519-9E79515F7684}"/>
              </a:ext>
            </a:extLst>
          </p:cNvPr>
          <p:cNvSpPr txBox="1"/>
          <p:nvPr/>
        </p:nvSpPr>
        <p:spPr>
          <a:xfrm>
            <a:off x="6372848" y="4878508"/>
            <a:ext cx="5763116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statistics: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characteristics of the 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inferential statistics: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predictions about the population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5B542-3A29-1FC8-93D7-921736CD9C73}"/>
              </a:ext>
            </a:extLst>
          </p:cNvPr>
          <p:cNvSpPr txBox="1"/>
          <p:nvPr/>
        </p:nvSpPr>
        <p:spPr>
          <a:xfrm>
            <a:off x="9392940" y="3747556"/>
            <a:ext cx="2543524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introduce bivariate analysis today!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E5117C-DAA5-6B32-B2CE-92275512097F}"/>
              </a:ext>
            </a:extLst>
          </p:cNvPr>
          <p:cNvSpPr/>
          <p:nvPr/>
        </p:nvSpPr>
        <p:spPr>
          <a:xfrm>
            <a:off x="6316608" y="5171015"/>
            <a:ext cx="5683509" cy="3776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417A12D2-7DEB-1824-70D3-35279FA6D355}"/>
              </a:ext>
            </a:extLst>
          </p:cNvPr>
          <p:cNvSpPr/>
          <p:nvPr/>
        </p:nvSpPr>
        <p:spPr>
          <a:xfrm rot="10950156">
            <a:off x="3157676" y="5453974"/>
            <a:ext cx="4330245" cy="817481"/>
          </a:xfrm>
          <a:prstGeom prst="curvedDownArrow">
            <a:avLst>
              <a:gd name="adj1" fmla="val 25000"/>
              <a:gd name="adj2" fmla="val 47768"/>
              <a:gd name="adj3" fmla="val 35431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EB8D23-EA4F-BFA8-7ED0-36DA490A1F1E}"/>
              </a:ext>
            </a:extLst>
          </p:cNvPr>
          <p:cNvSpPr/>
          <p:nvPr/>
        </p:nvSpPr>
        <p:spPr>
          <a:xfrm>
            <a:off x="604979" y="4919480"/>
            <a:ext cx="5683509" cy="3776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5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20434" y="181864"/>
            <a:ext cx="9951132" cy="1437203"/>
          </a:xfrm>
        </p:spPr>
        <p:txBody>
          <a:bodyPr>
            <a:noAutofit/>
          </a:bodyPr>
          <a:lstStyle/>
          <a:p>
            <a:r>
              <a:rPr lang="en-GB" altLang="en-US" dirty="0">
                <a:latin typeface="Arial Black" panose="020B0A04020102020204" pitchFamily="34" charset="0"/>
                <a:cs typeface="Arial" panose="020B0604020202020204" pitchFamily="34" charset="0"/>
              </a:rPr>
              <a:t>Getting started with bivariate analysis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0433" y="1882588"/>
            <a:ext cx="9951133" cy="4337372"/>
          </a:xfrm>
        </p:spPr>
        <p:txBody>
          <a:bodyPr>
            <a:normAutofit/>
          </a:bodyPr>
          <a:lstStyle/>
          <a:p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So far, we have only looked at the characteristics of </a:t>
            </a:r>
            <a:r>
              <a:rPr lang="en-GB" alt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altLang="en-US" sz="1800" u="sng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single variable 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including its frequency distribution and summary statistics like the mean or percentage </a:t>
            </a:r>
            <a:r>
              <a:rPr lang="en-GB" alt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in a sample, 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as well as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using sample data to predict what this variable looks like </a:t>
            </a:r>
            <a:r>
              <a:rPr lang="en-US" alt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in the population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(e.g., using the sample mean to predict the population mean) </a:t>
            </a:r>
            <a:endParaRPr lang="en-GB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GB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call it </a:t>
            </a:r>
            <a:r>
              <a:rPr lang="en-GB" altLang="en-US" sz="1800" dirty="0">
                <a:solidFill>
                  <a:schemeClr val="accent2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univariate</a:t>
            </a:r>
            <a:r>
              <a:rPr lang="en-GB" alt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analysis. </a:t>
            </a:r>
          </a:p>
          <a:p>
            <a:pPr marL="0" indent="0">
              <a:buNone/>
            </a:pPr>
            <a:endParaRPr lang="en-GB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GB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Next step: to explore the </a:t>
            </a:r>
            <a:r>
              <a:rPr lang="en-GB" altLang="en-US" sz="2500" b="1" i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association</a:t>
            </a:r>
            <a:r>
              <a:rPr lang="en-GB" altLang="en-US" sz="2500" u="sng" dirty="0">
                <a:latin typeface="Arial" panose="020B0604020202020204" pitchFamily="34" charset="0"/>
                <a:cs typeface="Arial" panose="020B0604020202020204" pitchFamily="34" charset="0"/>
              </a:rPr>
              <a:t> between </a:t>
            </a:r>
            <a:r>
              <a:rPr lang="en-GB" altLang="en-US" sz="2500" u="sng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two variables </a:t>
            </a:r>
            <a:r>
              <a:rPr lang="en-GB" altLang="en-US" sz="2500" u="sng" dirty="0">
                <a:latin typeface="Arial" panose="020B0604020202020204" pitchFamily="34" charset="0"/>
                <a:cs typeface="Arial" panose="020B0604020202020204" pitchFamily="34" charset="0"/>
              </a:rPr>
              <a:t>in a sample and make inferences about their relationship in the population. </a:t>
            </a:r>
            <a:r>
              <a:rPr lang="en-GB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This is called </a:t>
            </a:r>
            <a:r>
              <a:rPr lang="en-GB" altLang="en-US" sz="2500" b="1" i="1" dirty="0">
                <a:solidFill>
                  <a:schemeClr val="accent2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bivariate</a:t>
            </a:r>
            <a:r>
              <a:rPr lang="en-GB" altLang="en-US" sz="25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analysis</a:t>
            </a:r>
            <a:r>
              <a:rPr lang="en-GB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90000"/>
              </a:lnSpc>
            </a:pPr>
            <a:endParaRPr lang="en-GB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11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BE52-58AB-73C4-AC00-6FE7D2648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A quick review of independent (X) and dependent (Y)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4D391-BEC1-975C-D887-3A18E6532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In a theory/hypothesis:</a:t>
            </a:r>
          </a:p>
          <a:p>
            <a:pPr algn="l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Y: the effect.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outcome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 be explained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[the dependent/outcome variable]</a:t>
            </a:r>
            <a:endParaRPr lang="en-US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X (X1, X2, X2…): the causes.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inherent characteristics that explain/predict the outcome or effect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[the independent/explanatory variables]</a:t>
            </a:r>
            <a:endParaRPr lang="en-US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 (Z1, Z2, Z3…):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thing(s) that may also explain the outcomes (think of them as the alternative independent variables)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but not the focus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your research (so you want to control them)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[control variables]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72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3707-9D38-B507-0761-7435CCEC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0" i="0" u="none" strike="noStrike" baseline="0" dirty="0">
                <a:solidFill>
                  <a:srgbClr val="000000"/>
                </a:solidFill>
                <a:latin typeface="Arial Black" panose="020B0A04020102020204" pitchFamily="34" charset="0"/>
              </a:rPr>
              <a:t>What is association?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096C7-5795-D8FF-A855-164DA945F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 association is a </a:t>
            </a:r>
            <a:r>
              <a:rPr lang="en-US" altLang="en-US" sz="1800" i="1" dirty="0">
                <a:solidFill>
                  <a:schemeClr val="accent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systematic pattern 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that exists between variables:</a:t>
            </a:r>
          </a:p>
          <a:p>
            <a:pPr lvl="1"/>
            <a:r>
              <a:rPr lang="en-US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values of one variable </a:t>
            </a:r>
            <a:r>
              <a:rPr lang="en-US" sz="1400" b="0" i="0" u="none" strike="noStrike" baseline="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tend to go with </a:t>
            </a:r>
            <a:r>
              <a:rPr lang="en-US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values of the other.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This pattern can be measured and quantified. </a:t>
            </a:r>
          </a:p>
          <a:p>
            <a:pPr lvl="1"/>
            <a:r>
              <a:rPr lang="en-US" altLang="en-US" sz="14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other words, the value of one variable give information about the value of the other. </a:t>
            </a:r>
          </a:p>
          <a:p>
            <a:pPr lvl="1"/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>
              <a:buNone/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instance:</a:t>
            </a:r>
          </a:p>
          <a:p>
            <a:pPr marL="0" indent="0">
              <a:buNone/>
            </a:pP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Two categorical variables: Is there an association between marital status and happiness?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 married people tend to be happier?</a:t>
            </a:r>
          </a:p>
          <a:p>
            <a:pPr marL="0" indent="0">
              <a:buNone/>
            </a:pP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Two numerical variables: Is income associated with years of education?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E.g.: the longer years of education, the higher income?</a:t>
            </a:r>
            <a:endParaRPr 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1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8330-6379-978B-2C10-F9F8F2A0B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Association </a:t>
            </a:r>
            <a:r>
              <a:rPr lang="en-US" sz="3800" dirty="0">
                <a:latin typeface="Arial Black" panose="020B0A04020102020204" pitchFamily="34" charset="0"/>
              </a:rPr>
              <a:t>≠</a:t>
            </a:r>
            <a:r>
              <a:rPr lang="en-US" sz="3600" dirty="0">
                <a:latin typeface="Arial Black" panose="020B0A04020102020204" pitchFamily="34" charset="0"/>
              </a:rPr>
              <a:t> Causation</a:t>
            </a:r>
          </a:p>
        </p:txBody>
      </p:sp>
      <p:graphicFrame>
        <p:nvGraphicFramePr>
          <p:cNvPr id="5" name="Content Placeholder 8">
            <a:extLst>
              <a:ext uri="{FF2B5EF4-FFF2-40B4-BE49-F238E27FC236}">
                <a16:creationId xmlns:a16="http://schemas.microsoft.com/office/drawing/2014/main" id="{BA18A7A5-A119-221D-6D36-4BB6EBAF9E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5440668"/>
              </p:ext>
            </p:extLst>
          </p:nvPr>
        </p:nvGraphicFramePr>
        <p:xfrm>
          <a:off x="1562850" y="2134998"/>
          <a:ext cx="9066299" cy="3645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165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8E49-3206-7540-ACB2-5E81C531C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669" y="1094763"/>
            <a:ext cx="10453165" cy="654829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defTabSz="786384"/>
            <a:r>
              <a:rPr lang="en-US" kern="1200" spc="-4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Logic of Causal Order</a:t>
            </a:r>
            <a:endParaRPr lang="en-US" kern="1200" dirty="0">
              <a:latin typeface="Arial Black" panose="020B0A04020102020204" pitchFamily="34" charset="0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02938CBC-0788-40A1-B802-6B969F7C8D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2582" y="1786777"/>
          <a:ext cx="5430192" cy="4483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Image for post">
            <a:extLst>
              <a:ext uri="{FF2B5EF4-FFF2-40B4-BE49-F238E27FC236}">
                <a16:creationId xmlns:a16="http://schemas.microsoft.com/office/drawing/2014/main" id="{B8FA81A0-25C2-8D0F-6202-27E6046BD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6" t="4060" r="17177" b="4031"/>
          <a:stretch/>
        </p:blipFill>
        <p:spPr bwMode="auto">
          <a:xfrm>
            <a:off x="6600738" y="1925274"/>
            <a:ext cx="5591262" cy="411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19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C7CF0-6867-3850-A3B3-701837B2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Association </a:t>
            </a:r>
            <a:r>
              <a:rPr lang="en-US" sz="3600" dirty="0" err="1">
                <a:latin typeface="Arial Black" panose="020B0A04020102020204" pitchFamily="34" charset="0"/>
              </a:rPr>
              <a:t>v.s</a:t>
            </a:r>
            <a:r>
              <a:rPr lang="en-US" sz="3600" dirty="0">
                <a:latin typeface="Arial Black" panose="020B0A04020102020204" pitchFamily="34" charset="0"/>
              </a:rPr>
              <a:t>.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EA9DC-71BA-BBB6-8BDA-1AD22A9EB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0" i="0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everyday language: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ssociation and correlation are used 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interchangeably</a:t>
            </a:r>
            <a:r>
              <a:rPr lang="en-US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US" sz="18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0" i="0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Technically, however:</a:t>
            </a:r>
          </a:p>
          <a:p>
            <a:r>
              <a:rPr lang="en-US" sz="18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Association</a:t>
            </a:r>
            <a:r>
              <a:rPr lang="en-US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1800" b="0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general relationship</a:t>
            </a:r>
            <a:r>
              <a:rPr lang="en-US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one variable provides information about another. </a:t>
            </a:r>
          </a:p>
          <a:p>
            <a:r>
              <a:rPr lang="en-US" sz="18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lang="en-US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1800" b="0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more specific</a:t>
            </a:r>
            <a:r>
              <a:rPr lang="en-US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measures the </a:t>
            </a:r>
            <a:r>
              <a:rPr lang="en-US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strength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of association between two variables.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more about the two in this </a:t>
            </a:r>
            <a:r>
              <a:rPr lang="en-US" sz="16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Nature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article: https://www.nature.com/articles/nmeth.3587</a:t>
            </a:r>
          </a:p>
        </p:txBody>
      </p:sp>
    </p:spTree>
    <p:extLst>
      <p:ext uri="{BB962C8B-B14F-4D97-AF65-F5344CB8AC3E}">
        <p14:creationId xmlns:p14="http://schemas.microsoft.com/office/powerpoint/2010/main" val="276778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5F575-79AF-1EAB-E97C-5A5A433AC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15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BE8F-3976-3AEF-32A6-6C1590D2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Three Measures of Association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C1DA9-2ECF-6B2D-710E-4E3AC443B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3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Bivariate analysis studies the association between the dependent/outcome variable </a:t>
            </a:r>
            <a:r>
              <a:rPr lang="en-US" sz="1800" b="0" i="0" u="none" strike="noStrike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(Y)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 independent/explanatory </a:t>
            </a:r>
            <a:r>
              <a:rPr lang="en-US" sz="1800" b="0" i="0" u="none" strike="noStrike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variable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Three important measures are:</a:t>
            </a:r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do Y and X go in the same direction?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increase in X coincides with increase in Y)</a:t>
            </a:r>
          </a:p>
          <a:p>
            <a:pPr marL="342900" indent="-342900">
              <a:buAutoNum type="arabicPeriod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to what extent does Y go with X?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 strong or weak connection?)</a:t>
            </a:r>
          </a:p>
          <a:p>
            <a:pPr marL="342900" indent="-342900">
              <a:buAutoNum type="arabicPeriod"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significance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does the association we see in a sample still hold true in the population? </a:t>
            </a:r>
          </a:p>
          <a:p>
            <a:pPr marL="0" indent="0">
              <a:buNone/>
            </a:pPr>
            <a:endParaRPr lang="en-US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There are many techniques for measuring associations – which method to use depends on the </a:t>
            </a:r>
            <a:r>
              <a:rPr lang="en-GB" altLang="en-US" sz="18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 of measurement: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Bivariate categorical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Bivariate numerical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Categorical and numerical variables -- not the focus of this course</a:t>
            </a:r>
          </a:p>
          <a:p>
            <a:pPr marL="0" indent="0">
              <a:buNone/>
            </a:pPr>
            <a:endParaRPr lang="en-GB" altLang="en-US" sz="1800" dirty="0"/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55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7834" y="1908443"/>
            <a:ext cx="10190221" cy="4697412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GB" alt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categorical variables 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(primarily nominal variables, but also apply to ordinal variables), the three measures of association are:</a:t>
            </a:r>
          </a:p>
          <a:p>
            <a:pPr marL="342900" indent="-342900">
              <a:buAutoNum type="arabicPeriod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Direction/pattern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contingency tables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Strength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2608" lvl="1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Roughly, we will use a rule-of-thumb estimate: percent % point difference</a:t>
            </a:r>
          </a:p>
          <a:p>
            <a:pPr marL="292608" lvl="1" indent="0">
              <a:buNone/>
            </a:pPr>
            <a:r>
              <a:rPr lang="en-US" sz="1600" strike="sngStrik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Precisely, relative risk (risk ratio) or odds ratio statistics (content for advanced courses)</a:t>
            </a:r>
            <a:endParaRPr lang="en-US" sz="1600" strike="sngStrik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Calibri" panose="020F0502020204030204" pitchFamily="34" charset="0"/>
              <a:buAutoNum type="arabicPeriod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Statistical significance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Chi-squared tests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197834" y="558457"/>
            <a:ext cx="10127303" cy="1143000"/>
          </a:xfrm>
        </p:spPr>
        <p:txBody>
          <a:bodyPr>
            <a:noAutofit/>
          </a:bodyPr>
          <a:lstStyle/>
          <a:p>
            <a:r>
              <a:rPr lang="en-US" altLang="zh-CN" dirty="0">
                <a:latin typeface="Arial Black" panose="020B0A04020102020204" pitchFamily="34" charset="0"/>
              </a:rPr>
              <a:t>Bivariate Analysis of Categorical Data </a:t>
            </a:r>
            <a:endParaRPr lang="en-GB" alt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05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9A08-23BE-9602-9120-50C55DDFD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0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1. Direction/Pattern of the Association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31A3A-0E4E-8527-2A44-6137A4201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66981"/>
          </a:xfrm>
        </p:spPr>
        <p:txBody>
          <a:bodyPr>
            <a:noAutofit/>
          </a:bodyPr>
          <a:lstStyle/>
          <a:p>
            <a:pPr lvl="0"/>
            <a:r>
              <a:rPr lang="en-US" sz="1800" baseline="0" dirty="0">
                <a:latin typeface="Arial" panose="020B0604020202020204" pitchFamily="34" charset="0"/>
                <a:cs typeface="Arial" panose="020B0604020202020204" pitchFamily="34" charset="0"/>
              </a:rPr>
              <a:t>For categorical variables,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we use </a:t>
            </a:r>
            <a:r>
              <a:rPr lang="en-US" sz="2500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contingency table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describe the pattern of the bivariate association.</a:t>
            </a:r>
            <a:endParaRPr lang="en-US" sz="18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baseline="0" dirty="0">
                <a:latin typeface="Arial" panose="020B0604020202020204" pitchFamily="34" charset="0"/>
                <a:cs typeface="Arial" panose="020B0604020202020204" pitchFamily="34" charset="0"/>
              </a:rPr>
              <a:t>A contingency table displays </a:t>
            </a:r>
            <a:r>
              <a:rPr lang="en-US" sz="1800" u="sng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joint frequency distribution </a:t>
            </a:r>
            <a:r>
              <a:rPr lang="en-US" sz="1800" baseline="0" dirty="0">
                <a:latin typeface="Arial" panose="020B0604020202020204" pitchFamily="34" charset="0"/>
                <a:cs typeface="Arial" panose="020B0604020202020204" pitchFamily="34" charset="0"/>
              </a:rPr>
              <a:t>of two categorical variables: </a:t>
            </a:r>
          </a:p>
          <a:p>
            <a:pPr lvl="1"/>
            <a:r>
              <a:rPr 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i.e., the number of observations falling under </a:t>
            </a:r>
            <a:r>
              <a:rPr lang="en-US" i="1" baseline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combinations </a:t>
            </a:r>
            <a:r>
              <a:rPr 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of the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possible categories</a:t>
            </a:r>
            <a:r>
              <a:rPr 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/>
            <a:r>
              <a:rPr 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In other words, the table shows 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r>
              <a:rPr 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 of one variable </a:t>
            </a:r>
            <a:r>
              <a:rPr lang="en-US" i="1" baseline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contingent</a:t>
            </a:r>
            <a:r>
              <a:rPr 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 on the other.</a:t>
            </a:r>
          </a:p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Contingency table of sex and housework (N = 200)</a:t>
            </a:r>
            <a:endParaRPr lang="en-US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sz="1800" baseline="0" dirty="0">
                <a:latin typeface="Arial" panose="020B0604020202020204" pitchFamily="34" charset="0"/>
                <a:cs typeface="Arial" panose="020B0604020202020204" pitchFamily="34" charset="0"/>
              </a:rPr>
              <a:t>A contingency table is also called </a:t>
            </a:r>
            <a:r>
              <a:rPr lang="en-US" sz="1800" u="sng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 tabulations or cross-tabs</a:t>
            </a:r>
            <a:r>
              <a:rPr lang="en-US" sz="1800" baseline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3FA988-C0A7-B5E6-5FCE-C207A3BF2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929782"/>
              </p:ext>
            </p:extLst>
          </p:nvPr>
        </p:nvGraphicFramePr>
        <p:xfrm>
          <a:off x="2548387" y="4116539"/>
          <a:ext cx="6318964" cy="1080120"/>
        </p:xfrm>
        <a:graphic>
          <a:graphicData uri="http://schemas.openxmlformats.org/drawingml/2006/table">
            <a:tbl>
              <a:tblPr firstRow="1" firstCol="1" bandRow="1"/>
              <a:tblGrid>
                <a:gridCol w="1579741">
                  <a:extLst>
                    <a:ext uri="{9D8B030D-6E8A-4147-A177-3AD203B41FA5}">
                      <a16:colId xmlns:a16="http://schemas.microsoft.com/office/drawing/2014/main" val="282794729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5827273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589039992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0102490"/>
                    </a:ext>
                  </a:extLst>
                </a:gridCol>
              </a:tblGrid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728687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(yes)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696876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(no)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130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695979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90926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A717671-2FC4-27C2-7FCB-BAD80C474ED9}"/>
              </a:ext>
            </a:extLst>
          </p:cNvPr>
          <p:cNvSpPr/>
          <p:nvPr/>
        </p:nvSpPr>
        <p:spPr>
          <a:xfrm>
            <a:off x="2467509" y="4948297"/>
            <a:ext cx="4838842" cy="303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8E0EFA-4989-80C3-7BBA-A9269693B7D0}"/>
              </a:ext>
            </a:extLst>
          </p:cNvPr>
          <p:cNvSpPr/>
          <p:nvPr/>
        </p:nvSpPr>
        <p:spPr>
          <a:xfrm>
            <a:off x="7306351" y="4113828"/>
            <a:ext cx="1581556" cy="1138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3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ED9BD-5087-0235-2F92-580BF1C7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Column and row percentages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6DD31-2832-4B4A-555B-0B3C73F76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Recap: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percentage = (num of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obs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category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num of </a:t>
            </a:r>
            <a:r>
              <a:rPr lang="en-US" sz="1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* 100%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N = 200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 of males = 100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Percentage of males = 100/200 * 100% = 0.5*100% = 50%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a contingency table, there are two ways to calculate percentages, either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along columns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along rows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9BA7B4-DE24-6C1D-2BAA-322AE9512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884176"/>
              </p:ext>
            </p:extLst>
          </p:nvPr>
        </p:nvGraphicFramePr>
        <p:xfrm>
          <a:off x="3028882" y="4037942"/>
          <a:ext cx="6318964" cy="1080120"/>
        </p:xfrm>
        <a:graphic>
          <a:graphicData uri="http://schemas.openxmlformats.org/drawingml/2006/table">
            <a:tbl>
              <a:tblPr firstRow="1" firstCol="1" bandRow="1"/>
              <a:tblGrid>
                <a:gridCol w="1579741">
                  <a:extLst>
                    <a:ext uri="{9D8B030D-6E8A-4147-A177-3AD203B41FA5}">
                      <a16:colId xmlns:a16="http://schemas.microsoft.com/office/drawing/2014/main" val="282794729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5827273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589039992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0102490"/>
                    </a:ext>
                  </a:extLst>
                </a:gridCol>
              </a:tblGrid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728687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(yes)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(50%)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696876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(no)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(80%)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(50%)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130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695979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(100%)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(100%)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909260"/>
                  </a:ext>
                </a:extLst>
              </a:tr>
            </a:tbl>
          </a:graphicData>
        </a:graphic>
      </p:graphicFrame>
      <p:sp>
        <p:nvSpPr>
          <p:cNvPr id="5" name="Oval 7">
            <a:extLst>
              <a:ext uri="{FF2B5EF4-FFF2-40B4-BE49-F238E27FC236}">
                <a16:creationId xmlns:a16="http://schemas.microsoft.com/office/drawing/2014/main" id="{4243A9C5-EF59-A22C-899D-54945B51B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359" y="3933240"/>
            <a:ext cx="628290" cy="1289524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1E91BBFB-89D5-CC30-6FA5-FABFAC837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653" y="3957962"/>
            <a:ext cx="670923" cy="1289524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0BF3F-4477-BB9F-8BDB-0888634CA481}"/>
              </a:ext>
            </a:extLst>
          </p:cNvPr>
          <p:cNvSpPr txBox="1"/>
          <p:nvPr/>
        </p:nvSpPr>
        <p:spPr>
          <a:xfrm>
            <a:off x="1280161" y="5321282"/>
            <a:ext cx="104463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Tx/>
              <a:buSzTx/>
              <a:buNone/>
            </a:pPr>
            <a:r>
              <a:rPr kumimoji="0" lang="en-GB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Column </a:t>
            </a:r>
            <a:r>
              <a:rPr lang="en-GB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percentages</a:t>
            </a:r>
            <a:r>
              <a:rPr kumimoji="0" lang="en-GB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= (cell count divided by the </a:t>
            </a:r>
            <a:r>
              <a:rPr kumimoji="0" lang="en-GB" altLang="en-US" sz="18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total</a:t>
            </a:r>
            <a:r>
              <a:rPr kumimoji="0" lang="en-GB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GB" altLang="en-US" sz="18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x 100%</a:t>
            </a:r>
          </a:p>
          <a:p>
            <a:pPr>
              <a:spcBef>
                <a:spcPts val="0"/>
              </a:spcBef>
              <a:buClrTx/>
              <a:buSzTx/>
              <a:buNone/>
            </a:pPr>
            <a:endParaRPr lang="en-GB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Tx/>
              <a:buSzTx/>
              <a:buNone/>
            </a:pP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this table, Col % shows the distribution of housework, </a:t>
            </a:r>
            <a:r>
              <a:rPr lang="en-GB" altLang="en-US" sz="1800" i="1" u="sng" dirty="0">
                <a:latin typeface="Arial" panose="020B0604020202020204" pitchFamily="34" charset="0"/>
                <a:cs typeface="Arial" panose="020B0604020202020204" pitchFamily="34" charset="0"/>
              </a:rPr>
              <a:t>contingent (conditional)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on biological sex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9001B0-1974-3574-5DE1-CBDA0DF44DCC}"/>
              </a:ext>
            </a:extLst>
          </p:cNvPr>
          <p:cNvSpPr txBox="1"/>
          <p:nvPr/>
        </p:nvSpPr>
        <p:spPr>
          <a:xfrm>
            <a:off x="3128304" y="3641301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Contingency table of sex and housework</a:t>
            </a:r>
            <a:endParaRPr lang="en-US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441830-93C3-C2FE-D2C5-6C6F3668CF89}"/>
              </a:ext>
            </a:extLst>
          </p:cNvPr>
          <p:cNvSpPr/>
          <p:nvPr/>
        </p:nvSpPr>
        <p:spPr>
          <a:xfrm>
            <a:off x="4918841" y="4337769"/>
            <a:ext cx="572063" cy="21621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E1F533-3C66-B2F6-4983-EE970508B545}"/>
              </a:ext>
            </a:extLst>
          </p:cNvPr>
          <p:cNvSpPr/>
          <p:nvPr/>
        </p:nvSpPr>
        <p:spPr>
          <a:xfrm>
            <a:off x="4875435" y="4602724"/>
            <a:ext cx="572063" cy="21621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5B60AB-18B8-90C3-4C06-E1DBFC582E45}"/>
              </a:ext>
            </a:extLst>
          </p:cNvPr>
          <p:cNvSpPr/>
          <p:nvPr/>
        </p:nvSpPr>
        <p:spPr>
          <a:xfrm>
            <a:off x="5033783" y="4867679"/>
            <a:ext cx="628290" cy="21621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745C51-97F0-BF85-8675-E9B5512BE733}"/>
              </a:ext>
            </a:extLst>
          </p:cNvPr>
          <p:cNvSpPr/>
          <p:nvPr/>
        </p:nvSpPr>
        <p:spPr>
          <a:xfrm>
            <a:off x="6490188" y="4324255"/>
            <a:ext cx="572063" cy="21621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FD2196D-CDE5-A220-4515-056A8DF2C7A5}"/>
              </a:ext>
            </a:extLst>
          </p:cNvPr>
          <p:cNvSpPr/>
          <p:nvPr/>
        </p:nvSpPr>
        <p:spPr>
          <a:xfrm>
            <a:off x="6487321" y="4602723"/>
            <a:ext cx="572063" cy="21621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EEF5BB-8AB5-BF13-0181-3130835513BF}"/>
              </a:ext>
            </a:extLst>
          </p:cNvPr>
          <p:cNvSpPr/>
          <p:nvPr/>
        </p:nvSpPr>
        <p:spPr>
          <a:xfrm>
            <a:off x="6627519" y="4867679"/>
            <a:ext cx="597592" cy="21621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1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1" grpId="0"/>
      <p:bldP spid="7" grpId="0" animBg="1"/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ED9BD-5087-0235-2F92-580BF1C7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Column and row percentages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6DD31-2832-4B4A-555B-0B3C73F76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Recap: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percentage = (num of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obs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category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num of </a:t>
            </a:r>
            <a:r>
              <a:rPr lang="en-US" sz="1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* 100%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N = 200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 of males = 100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Percentage of males = 100/200 * 100% = 0.5*100% = 50%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a contingency table, there are two ways to calculate percentages, either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along columns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along rows.</a:t>
            </a:r>
            <a:endParaRPr lang="en-US" sz="18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9BA7B4-DE24-6C1D-2BAA-322AE9512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938356"/>
              </p:ext>
            </p:extLst>
          </p:nvPr>
        </p:nvGraphicFramePr>
        <p:xfrm>
          <a:off x="2966998" y="4010633"/>
          <a:ext cx="6318964" cy="1080120"/>
        </p:xfrm>
        <a:graphic>
          <a:graphicData uri="http://schemas.openxmlformats.org/drawingml/2006/table">
            <a:tbl>
              <a:tblPr firstRow="1" firstCol="1" bandRow="1"/>
              <a:tblGrid>
                <a:gridCol w="1579741">
                  <a:extLst>
                    <a:ext uri="{9D8B030D-6E8A-4147-A177-3AD203B41FA5}">
                      <a16:colId xmlns:a16="http://schemas.microsoft.com/office/drawing/2014/main" val="282794729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5827273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589039992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0102490"/>
                    </a:ext>
                  </a:extLst>
                </a:gridCol>
              </a:tblGrid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728687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(yes)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 </a:t>
                      </a: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(28.6%)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 </a:t>
                      </a: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(71.4%)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 </a:t>
                      </a: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(100%)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696876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(no)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 </a:t>
                      </a: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(61.5%)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 </a:t>
                      </a: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(38.5%)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130 (</a:t>
                      </a: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100%)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695979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(50%)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(50%)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 </a:t>
                      </a: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(100%)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9092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30FE628-D893-4570-8EE8-505B40EBA9AD}"/>
              </a:ext>
            </a:extLst>
          </p:cNvPr>
          <p:cNvSpPr txBox="1"/>
          <p:nvPr/>
        </p:nvSpPr>
        <p:spPr>
          <a:xfrm>
            <a:off x="2034332" y="5376909"/>
            <a:ext cx="98528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Tx/>
              <a:buSzTx/>
              <a:buNone/>
            </a:pPr>
            <a:r>
              <a:rPr kumimoji="0" lang="en-GB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Row </a:t>
            </a:r>
            <a:r>
              <a:rPr lang="en-GB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percentages</a:t>
            </a:r>
            <a:r>
              <a:rPr kumimoji="0" lang="en-GB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= (cell count divided by the </a:t>
            </a:r>
            <a:r>
              <a:rPr kumimoji="0" lang="en-GB" altLang="en-US" sz="18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 total</a:t>
            </a:r>
            <a:r>
              <a:rPr kumimoji="0"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 x 100%</a:t>
            </a:r>
          </a:p>
          <a:p>
            <a:pPr>
              <a:spcBef>
                <a:spcPts val="0"/>
              </a:spcBef>
              <a:buClrTx/>
              <a:buSzTx/>
              <a:buNone/>
            </a:pPr>
            <a:endParaRPr kumimoji="0" lang="en-GB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Tx/>
              <a:buSzTx/>
              <a:buNone/>
            </a:pP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this table, Row % shows the distribution of sex, </a:t>
            </a:r>
            <a:r>
              <a:rPr lang="en-GB" altLang="en-US" sz="1800" i="1" u="sng" dirty="0">
                <a:latin typeface="Arial" panose="020B0604020202020204" pitchFamily="34" charset="0"/>
                <a:cs typeface="Arial" panose="020B0604020202020204" pitchFamily="34" charset="0"/>
              </a:rPr>
              <a:t>contingent (conditional)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on housework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8358F-D08C-0289-FF5D-5DED51D13100}"/>
              </a:ext>
            </a:extLst>
          </p:cNvPr>
          <p:cNvSpPr txBox="1"/>
          <p:nvPr/>
        </p:nvSpPr>
        <p:spPr>
          <a:xfrm>
            <a:off x="3128304" y="3641301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Contingency table of sex and housework</a:t>
            </a:r>
            <a:endParaRPr lang="en-US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9DF843-EEA0-1C94-BF4C-3C730DA8C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988" y="4266969"/>
            <a:ext cx="4733608" cy="2682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73764F-D577-C5B0-C006-D593BAE53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774" y="4540139"/>
            <a:ext cx="4733608" cy="2682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72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dirty="0">
                <a:latin typeface="Arial Black" panose="020B0A04020102020204" pitchFamily="34" charset="0"/>
                <a:cs typeface="Arial" panose="020B0604020202020204" pitchFamily="34" charset="0"/>
              </a:rPr>
              <a:t>Which way is better?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8167" y="1808463"/>
            <a:ext cx="10058400" cy="4114800"/>
          </a:xfrm>
        </p:spPr>
        <p:txBody>
          <a:bodyPr>
            <a:normAutofit/>
          </a:bodyPr>
          <a:lstStyle/>
          <a:p>
            <a:r>
              <a:rPr lang="en-GB" altLang="en-US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depends on your X and Y. </a:t>
            </a:r>
          </a:p>
          <a:p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Which variable is your independent variable X</a:t>
            </a:r>
            <a:r>
              <a:rPr lang="en-GB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(causes, inherent characteristics, explanatory factors)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? Which variable is your dependent variable </a:t>
            </a:r>
            <a:r>
              <a:rPr lang="en-GB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GB" alt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altLang="en-US" sz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outcomes, effects, things to be explained)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marL="0" indent="0">
              <a:buNone/>
            </a:pPr>
            <a:r>
              <a:rPr lang="en-GB" alt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Then look for your X: </a:t>
            </a:r>
          </a:p>
          <a:p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 if </a:t>
            </a:r>
            <a:r>
              <a:rPr lang="en-GB" alt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 is in the row 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(horizontal), </a:t>
            </a:r>
            <a:r>
              <a:rPr lang="en-GB" alt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 row percentage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; each row should add up to 100%</a:t>
            </a:r>
          </a:p>
          <a:p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 if </a:t>
            </a:r>
            <a:r>
              <a:rPr lang="en-GB" alt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 is in the column 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(vertical), </a:t>
            </a:r>
            <a:r>
              <a:rPr lang="en-GB" alt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 column percentage</a:t>
            </a: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; each col should add up to 100%</a:t>
            </a:r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our example:  biological sex </a:t>
            </a:r>
            <a:r>
              <a:rPr lang="en-GB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v.s</a:t>
            </a:r>
            <a:r>
              <a:rPr lang="en-GB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housework </a:t>
            </a:r>
          </a:p>
          <a:p>
            <a:pPr>
              <a:spcBef>
                <a:spcPts val="0"/>
              </a:spcBef>
            </a:pPr>
            <a:r>
              <a:rPr lang="en-GB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X: biological sex</a:t>
            </a:r>
          </a:p>
          <a:p>
            <a:pPr>
              <a:spcBef>
                <a:spcPts val="0"/>
              </a:spcBef>
            </a:pPr>
            <a:r>
              <a:rPr lang="en-GB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Y: housework</a:t>
            </a:r>
          </a:p>
          <a:p>
            <a:pPr>
              <a:spcBef>
                <a:spcPts val="0"/>
              </a:spcBef>
            </a:pPr>
            <a:r>
              <a:rPr lang="en-GB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Since sex is in the column, so </a:t>
            </a:r>
            <a:r>
              <a:rPr lang="en-GB" altLang="en-US" sz="1400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column percentages </a:t>
            </a:r>
            <a:r>
              <a:rPr lang="en-GB" alt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is more appropriate for this example</a:t>
            </a:r>
            <a:r>
              <a:rPr lang="en-GB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GB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Each column should sum up to 100% </a:t>
            </a:r>
            <a:r>
              <a:rPr lang="en-GB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GB" alt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males = 100% &amp; all females = 100%</a:t>
            </a:r>
          </a:p>
          <a:p>
            <a:pPr>
              <a:spcBef>
                <a:spcPts val="0"/>
              </a:spcBef>
            </a:pPr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</a:pPr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</a:pPr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8F51ACB-469E-675A-85A7-83BD5AE61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2545" y="5583127"/>
            <a:ext cx="8001000" cy="5232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ts val="0"/>
              </a:spcBef>
              <a:buNone/>
            </a:pPr>
            <a:r>
              <a:rPr lang="en-GB" alt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Identifying X and Y is important, and </a:t>
            </a:r>
            <a:r>
              <a:rPr lang="en-US" alt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 </a:t>
            </a:r>
            <a:r>
              <a:rPr lang="en-GB" altLang="en-US" sz="1400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table layout does NOT matter</a:t>
            </a:r>
            <a:r>
              <a:rPr lang="en-GB" alt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 </a:t>
            </a:r>
          </a:p>
          <a:p>
            <a:pPr algn="ctr">
              <a:spcBef>
                <a:spcPts val="0"/>
              </a:spcBef>
              <a:buNone/>
            </a:pPr>
            <a:r>
              <a:rPr lang="en-GB" alt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If we put “sex” in the row, we will use row percentages instead. </a:t>
            </a:r>
          </a:p>
        </p:txBody>
      </p:sp>
    </p:spTree>
    <p:extLst>
      <p:ext uri="{BB962C8B-B14F-4D97-AF65-F5344CB8AC3E}">
        <p14:creationId xmlns:p14="http://schemas.microsoft.com/office/powerpoint/2010/main" val="80796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AD9586-6E6B-2269-2EC2-6B72BF2C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How to analyze a contingency table?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BC0FCEC-DE09-777C-5A49-C6854798793F}"/>
              </a:ext>
            </a:extLst>
          </p:cNvPr>
          <p:cNvSpPr txBox="1">
            <a:spLocks noChangeArrowheads="1"/>
          </p:cNvSpPr>
          <p:nvPr/>
        </p:nvSpPr>
        <p:spPr>
          <a:xfrm>
            <a:off x="1205218" y="1885427"/>
            <a:ext cx="9950462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Step 1: 	Identify </a:t>
            </a:r>
            <a:r>
              <a:rPr lang="en-US" altLang="en-US" sz="1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1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in the contingency table </a:t>
            </a:r>
            <a:r>
              <a:rPr lang="en-US" alt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(Which is the cause, and which is the effect?) </a:t>
            </a:r>
          </a:p>
          <a:p>
            <a:pPr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Step 2:	</a:t>
            </a:r>
            <a:r>
              <a:rPr lang="en-US" alt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Depend on where X is (in the row or in the column?), calculate the row or column percentages along X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1800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category of X should add up to 100%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Step 3:	</a:t>
            </a: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the percentages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across the categories of X.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093756-2171-3D35-127C-013CC5191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389642"/>
              </p:ext>
            </p:extLst>
          </p:nvPr>
        </p:nvGraphicFramePr>
        <p:xfrm>
          <a:off x="2936518" y="3699098"/>
          <a:ext cx="6318964" cy="1080120"/>
        </p:xfrm>
        <a:graphic>
          <a:graphicData uri="http://schemas.openxmlformats.org/drawingml/2006/table">
            <a:tbl>
              <a:tblPr firstRow="1" firstCol="1" bandRow="1"/>
              <a:tblGrid>
                <a:gridCol w="1579741">
                  <a:extLst>
                    <a:ext uri="{9D8B030D-6E8A-4147-A177-3AD203B41FA5}">
                      <a16:colId xmlns:a16="http://schemas.microsoft.com/office/drawing/2014/main" val="282794729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5827273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589039992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0102490"/>
                    </a:ext>
                  </a:extLst>
                </a:gridCol>
              </a:tblGrid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728687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(yes)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(50%)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(35%)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696876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(no)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(80%)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(50%)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(65%)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695979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(100%)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(100%)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(100%)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9092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0C19AB-17A7-4CA8-A54A-A739692C470C}"/>
              </a:ext>
            </a:extLst>
          </p:cNvPr>
          <p:cNvSpPr txBox="1"/>
          <p:nvPr/>
        </p:nvSpPr>
        <p:spPr>
          <a:xfrm>
            <a:off x="3047651" y="3329766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Contingency table of sex and housework</a:t>
            </a:r>
            <a:endParaRPr lang="en-US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ine 30">
            <a:extLst>
              <a:ext uri="{FF2B5EF4-FFF2-40B4-BE49-F238E27FC236}">
                <a16:creationId xmlns:a16="http://schemas.microsoft.com/office/drawing/2014/main" id="{0CFF25BF-1083-0035-B3B7-80F36D608A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26171" y="4101802"/>
            <a:ext cx="826316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34">
            <a:extLst>
              <a:ext uri="{FF2B5EF4-FFF2-40B4-BE49-F238E27FC236}">
                <a16:creationId xmlns:a16="http://schemas.microsoft.com/office/drawing/2014/main" id="{4D96B1D6-8409-773C-F145-B790660BC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508" y="3660149"/>
            <a:ext cx="1047503" cy="134815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" name="Oval 34">
            <a:extLst>
              <a:ext uri="{FF2B5EF4-FFF2-40B4-BE49-F238E27FC236}">
                <a16:creationId xmlns:a16="http://schemas.microsoft.com/office/drawing/2014/main" id="{10A4A646-3E89-F384-0BAB-58367D323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3966" y="3621200"/>
            <a:ext cx="923487" cy="13871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12" name="Line 30">
            <a:extLst>
              <a:ext uri="{FF2B5EF4-FFF2-40B4-BE49-F238E27FC236}">
                <a16:creationId xmlns:a16="http://schemas.microsoft.com/office/drawing/2014/main" id="{59173FFC-5962-0B54-59D1-481625AED8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26171" y="4408953"/>
            <a:ext cx="807794" cy="1325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9B48FA-CA2D-AB07-AB9D-03DAE10EEBDD}"/>
              </a:ext>
            </a:extLst>
          </p:cNvPr>
          <p:cNvSpPr txBox="1"/>
          <p:nvPr/>
        </p:nvSpPr>
        <p:spPr>
          <a:xfrm>
            <a:off x="3475825" y="4957199"/>
            <a:ext cx="6096698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Who is more likely to do housework? </a:t>
            </a: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Female 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 - 20% = 30% points difference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Who is more likely NOT to do housework? </a:t>
            </a: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Male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 - 50% = 30% points difference</a:t>
            </a:r>
          </a:p>
        </p:txBody>
      </p:sp>
    </p:spTree>
    <p:extLst>
      <p:ext uri="{BB962C8B-B14F-4D97-AF65-F5344CB8AC3E}">
        <p14:creationId xmlns:p14="http://schemas.microsoft.com/office/powerpoint/2010/main" val="4257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3728-5C1A-C275-0832-5206974BF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How to interpret the results?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0BCB110E-EF38-8B9C-D73C-2A21F280DE90}"/>
              </a:ext>
            </a:extLst>
          </p:cNvPr>
          <p:cNvSpPr txBox="1">
            <a:spLocks noChangeArrowheads="1"/>
          </p:cNvSpPr>
          <p:nvPr/>
        </p:nvSpPr>
        <p:spPr>
          <a:xfrm>
            <a:off x="1172260" y="1960128"/>
            <a:ext cx="10515600" cy="4351338"/>
          </a:xfrm>
          <a:prstGeom prst="rect">
            <a:avLst/>
          </a:prstGeom>
          <a:noFill/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Among all the males, 20%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did housework yesterday.</a:t>
            </a:r>
          </a:p>
          <a:p>
            <a:pPr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Among all the females, 50%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did housework yesterday.</a:t>
            </a:r>
          </a:p>
          <a:p>
            <a:pPr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There is a </a:t>
            </a: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30% points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difference. </a:t>
            </a:r>
          </a:p>
          <a:p>
            <a:pPr>
              <a:buFontTx/>
              <a:buNone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F9FF1CD0-83C6-F3D0-70FC-5E2608F83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2260" y="3633529"/>
            <a:ext cx="6175541" cy="1938992"/>
          </a:xfrm>
          <a:prstGeom prst="rect">
            <a:avLst/>
          </a:prstGeom>
          <a:solidFill>
            <a:srgbClr val="BBE0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Interpretation:</a:t>
            </a:r>
          </a:p>
          <a:p>
            <a:pPr algn="ctr" eaLnBrk="1" hangingPunct="1">
              <a:spcBef>
                <a:spcPct val="50000"/>
              </a:spcBef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There is a moderate to strong association between biological sex and doing housework. </a:t>
            </a: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(strength)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000" dirty="0"/>
              <a:t>Females are more likely to do housework than males. </a:t>
            </a:r>
            <a:r>
              <a:rPr lang="en-US" altLang="en-US" sz="2000" dirty="0">
                <a:solidFill>
                  <a:schemeClr val="accent2"/>
                </a:solidFill>
              </a:rPr>
              <a:t>(pattern)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95665F36-3D37-071E-8769-C98375239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7059" y="1884679"/>
            <a:ext cx="4223515" cy="5039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u="sng" dirty="0">
                <a:solidFill>
                  <a:schemeClr val="bg2">
                    <a:lumMod val="50000"/>
                  </a:schemeClr>
                </a:solidFill>
              </a:rPr>
              <a:t>Rule of thumb (</a:t>
            </a:r>
            <a:r>
              <a:rPr lang="en-US" altLang="en-US" sz="1800" b="1" i="1" u="sng" dirty="0">
                <a:solidFill>
                  <a:schemeClr val="bg2">
                    <a:lumMod val="50000"/>
                  </a:schemeClr>
                </a:solidFill>
              </a:rPr>
              <a:t>not</a:t>
            </a:r>
            <a:r>
              <a:rPr lang="en-US" altLang="en-US" sz="1800" b="1" u="sng" dirty="0">
                <a:solidFill>
                  <a:schemeClr val="bg2">
                    <a:lumMod val="50000"/>
                  </a:schemeClr>
                </a:solidFill>
              </a:rPr>
              <a:t> a precise measure of association strength!)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bg2">
                    <a:lumMod val="50000"/>
                  </a:schemeClr>
                </a:solidFill>
              </a:rPr>
              <a:t>0-9 percentage points difference = little to no association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bg2">
                    <a:lumMod val="50000"/>
                  </a:schemeClr>
                </a:solidFill>
              </a:rPr>
              <a:t>10-30 percentage points difference = moderate association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bg2">
                    <a:lumMod val="50000"/>
                  </a:schemeClr>
                </a:solidFill>
              </a:rPr>
              <a:t>31+ percentage points difference = strong association</a:t>
            </a:r>
          </a:p>
          <a:p>
            <a:pPr>
              <a:spcBef>
                <a:spcPct val="0"/>
              </a:spcBef>
              <a:buNone/>
            </a:pPr>
            <a:endParaRPr lang="en-US" altLang="en-US" sz="20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precisely measure the strength of association, we need odds ratio or risk ratio statistics (covered in advanced stat courses)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9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endParaRPr lang="en-US" altLang="en-US" sz="19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7" descr="C:\Documents and Settings\Msrbcmb\Local Settings\Temp\spss24781\test.e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773239"/>
            <a:ext cx="8569325" cy="381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xfrm>
            <a:off x="1212137" y="792945"/>
            <a:ext cx="9999814" cy="882352"/>
          </a:xfrm>
        </p:spPr>
        <p:txBody>
          <a:bodyPr>
            <a:normAutofit fontScale="90000"/>
          </a:bodyPr>
          <a:lstStyle/>
          <a:p>
            <a:r>
              <a:rPr lang="en-US" altLang="en-US" sz="3200" dirty="0">
                <a:latin typeface="Arial Black" panose="020B0A04020102020204" pitchFamily="34" charset="0"/>
              </a:rPr>
              <a:t>The same rules apply to contingency tables with more categories/ordinal variables</a:t>
            </a:r>
            <a:endParaRPr lang="en-GB" altLang="en-US" sz="3200" dirty="0">
              <a:latin typeface="Arial Black" panose="020B0A04020102020204" pitchFamily="34" charset="0"/>
            </a:endParaRPr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8432284" y="1484314"/>
            <a:ext cx="1008063" cy="44656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556037" name="Text Box 5"/>
          <p:cNvSpPr txBox="1">
            <a:spLocks noChangeArrowheads="1"/>
          </p:cNvSpPr>
          <p:nvPr/>
        </p:nvSpPr>
        <p:spPr bwMode="auto">
          <a:xfrm>
            <a:off x="864851" y="5908160"/>
            <a:ext cx="108558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GB" altLang="en-US" sz="1800" b="1" dirty="0"/>
              <a:t>Compare % across categories of X (education): more education is associated with higher income</a:t>
            </a:r>
          </a:p>
        </p:txBody>
      </p:sp>
      <p:sp>
        <p:nvSpPr>
          <p:cNvPr id="556038" name="Oval 6"/>
          <p:cNvSpPr>
            <a:spLocks noChangeArrowheads="1"/>
          </p:cNvSpPr>
          <p:nvPr/>
        </p:nvSpPr>
        <p:spPr bwMode="auto">
          <a:xfrm>
            <a:off x="4440238" y="4292601"/>
            <a:ext cx="6227762" cy="792163"/>
          </a:xfrm>
          <a:prstGeom prst="ellips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556039" name="Line 7"/>
          <p:cNvSpPr>
            <a:spLocks noChangeShapeType="1"/>
          </p:cNvSpPr>
          <p:nvPr/>
        </p:nvSpPr>
        <p:spPr bwMode="auto">
          <a:xfrm flipV="1">
            <a:off x="6383338" y="4941889"/>
            <a:ext cx="144462" cy="9350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5" name="Oval 9"/>
          <p:cNvSpPr>
            <a:spLocks noChangeArrowheads="1"/>
          </p:cNvSpPr>
          <p:nvPr/>
        </p:nvSpPr>
        <p:spPr bwMode="auto">
          <a:xfrm>
            <a:off x="4979988" y="1557339"/>
            <a:ext cx="1079500" cy="439261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" name="Oval 9">
            <a:extLst>
              <a:ext uri="{FF2B5EF4-FFF2-40B4-BE49-F238E27FC236}">
                <a16:creationId xmlns:a16="http://schemas.microsoft.com/office/drawing/2014/main" id="{D268D32D-465B-CDB1-58AB-0BA0F73B4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514" y="1581537"/>
            <a:ext cx="1079500" cy="439261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60E25864-4288-99E2-AB3D-1BD23E78C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9758" y="1557339"/>
            <a:ext cx="1079500" cy="439261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25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animBg="1"/>
      <p:bldP spid="556037" grpId="0"/>
      <p:bldP spid="556038" grpId="0" animBg="1"/>
      <p:bldP spid="556039" grpId="0" animBg="1"/>
      <p:bldP spid="45065" grpId="0" animBg="1"/>
      <p:bldP spid="2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884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612" y="177338"/>
            <a:ext cx="10406581" cy="1524958"/>
          </a:xfrm>
        </p:spPr>
        <p:txBody>
          <a:bodyPr>
            <a:no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2. The (Precise) Strength of The Association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8226" y="1772816"/>
            <a:ext cx="9913326" cy="4221088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A contingency table </a:t>
            </a:r>
            <a:r>
              <a:rPr lang="en-GB" sz="18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alone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simply shows the existence (or lack thereof) of an association between two categorical variables </a:t>
            </a:r>
            <a:r>
              <a:rPr lang="en-GB" sz="1800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sample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We don’t know:</a:t>
            </a:r>
          </a:p>
          <a:p>
            <a:pPr>
              <a:spcAft>
                <a:spcPts val="600"/>
              </a:spcAft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GB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strong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is this association </a:t>
            </a:r>
            <a:r>
              <a:rPr lang="en-GB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precisely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n-GB" sz="1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(percentage points difference is only a rough estimate)</a:t>
            </a:r>
          </a:p>
          <a:p>
            <a:pPr>
              <a:spcAft>
                <a:spcPts val="600"/>
              </a:spcAft>
            </a:pPr>
            <a:r>
              <a:rPr lang="en-GB" sz="1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Odds ratios, relative risk, etc. (content for more advanced statistical courses). </a:t>
            </a:r>
          </a:p>
          <a:p>
            <a:pPr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GB" sz="1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GB" sz="1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470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1532B-A50B-3FE2-DB65-66DB40A62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GB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We also don’t know: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Does this bivariate categorical association exist </a:t>
            </a: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population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as well? 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 other words, the pattern we </a:t>
            </a: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 in a sample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could be just fluke. Does it still </a:t>
            </a: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 on the population level?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spcAft>
                <a:spcPts val="600"/>
              </a:spcAft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To make inferences about a population based on sample data, we need </a:t>
            </a:r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testing.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B90D87-48D0-CF5B-F1FD-01C750F21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>
            <a:no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3. The Significance of The Association</a:t>
            </a:r>
          </a:p>
        </p:txBody>
      </p:sp>
    </p:spTree>
    <p:extLst>
      <p:ext uri="{BB962C8B-B14F-4D97-AF65-F5344CB8AC3E}">
        <p14:creationId xmlns:p14="http://schemas.microsoft.com/office/powerpoint/2010/main" val="1219425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183C-50A6-147B-B445-1C6D89C7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 Black" panose="020B0A04020102020204" pitchFamily="34" charset="0"/>
              </a:rPr>
              <a:t>Quick Recap on Hypothesis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8E313-381B-49A9-16CF-CEB5EFD4C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909" y="2046453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Different types of hypothesis testing: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2DC33EA-1C2E-2315-C922-1DFE3CC0EC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1830814"/>
                  </p:ext>
                </p:extLst>
              </p:nvPr>
            </p:nvGraphicFramePr>
            <p:xfrm>
              <a:off x="1433142" y="2930373"/>
              <a:ext cx="8969284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2321">
                      <a:extLst>
                        <a:ext uri="{9D8B030D-6E8A-4147-A177-3AD203B41FA5}">
                          <a16:colId xmlns:a16="http://schemas.microsoft.com/office/drawing/2014/main" val="639154206"/>
                        </a:ext>
                      </a:extLst>
                    </a:gridCol>
                    <a:gridCol w="2068440">
                      <a:extLst>
                        <a:ext uri="{9D8B030D-6E8A-4147-A177-3AD203B41FA5}">
                          <a16:colId xmlns:a16="http://schemas.microsoft.com/office/drawing/2014/main" val="3105875649"/>
                        </a:ext>
                      </a:extLst>
                    </a:gridCol>
                    <a:gridCol w="3001878">
                      <a:extLst>
                        <a:ext uri="{9D8B030D-6E8A-4147-A177-3AD203B41FA5}">
                          <a16:colId xmlns:a16="http://schemas.microsoft.com/office/drawing/2014/main" val="1460794178"/>
                        </a:ext>
                      </a:extLst>
                    </a:gridCol>
                    <a:gridCol w="1656645">
                      <a:extLst>
                        <a:ext uri="{9D8B030D-6E8A-4147-A177-3AD203B41FA5}">
                          <a16:colId xmlns:a16="http://schemas.microsoft.com/office/drawing/2014/main" val="3595265788"/>
                        </a:ext>
                      </a:extLst>
                    </a:gridCol>
                  </a:tblGrid>
                  <a:tr h="469616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Types of test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Two-tailed (more common)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One-tailed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Test statistic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4489057"/>
                      </a:ext>
                    </a:extLst>
                  </a:tr>
                  <a:tr h="810569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One-sample test</a:t>
                          </a:r>
                        </a:p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(a sample </a:t>
                          </a:r>
                          <a:r>
                            <a:rPr lang="en-US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v.s</a:t>
                          </a:r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 pop)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18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altLang="en-US" sz="1800" dirty="0">
                              <a:sym typeface="Symbol" panose="05050102010706020507" pitchFamily="18" charset="2"/>
                            </a:rPr>
                            <a:t>=  </a:t>
                          </a:r>
                        </a:p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18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a:rPr lang="en-GB" altLang="en-US" sz="1800" i="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≠</m:t>
                              </m:r>
                            </m:oMath>
                          </a14:m>
                          <a:r>
                            <a:rPr lang="en-GB" altLang="en-US" sz="1800" dirty="0">
                              <a:sym typeface="Symbol" panose="05050102010706020507" pitchFamily="18" charset="2"/>
                            </a:rPr>
                            <a:t>  </a:t>
                          </a:r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18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altLang="en-US" sz="1800" dirty="0">
                              <a:sym typeface="Symbol" panose="05050102010706020507" pitchFamily="18" charset="2"/>
                            </a:rPr>
                            <a:t>=  (or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18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bar>
                            </m:oMath>
                          </a14:m>
                          <a:r>
                            <a:rPr lang="en-GB" altLang="en-US" sz="1800" dirty="0">
                              <a:sym typeface="Symbol" panose="05050102010706020507" pitchFamily="18" charset="2"/>
                            </a:rPr>
                            <a:t> &gt;=  or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18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bar>
                            </m:oMath>
                          </a14:m>
                          <a:r>
                            <a:rPr lang="en-GB" altLang="en-US" sz="1800" dirty="0">
                              <a:sym typeface="Symbol" panose="05050102010706020507" pitchFamily="18" charset="2"/>
                            </a:rPr>
                            <a:t> &lt;= ) </a:t>
                          </a:r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18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a:rPr lang="en-US" sz="1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altLang="en-US" sz="1800" dirty="0">
                              <a:sym typeface="Symbol" panose="05050102010706020507" pitchFamily="18" charset="2"/>
                            </a:rPr>
                            <a:t>&lt;   (or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18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altLang="en-US" sz="1800" dirty="0">
                              <a:sym typeface="Symbol" panose="05050102010706020507" pitchFamily="18" charset="2"/>
                            </a:rPr>
                            <a:t>&gt; )</a:t>
                          </a:r>
                          <a:endPara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t-score (z-score is a special case)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77559026"/>
                      </a:ext>
                    </a:extLst>
                  </a:tr>
                  <a:tr h="469616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Two-sample test</a:t>
                          </a:r>
                        </a:p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(A/B test)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=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altLang="en-US" sz="1800" i="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0</a:t>
                          </a:r>
                        </a:p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&gt; 0 (or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sz="1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&lt;0)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t-score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42835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2DC33EA-1C2E-2315-C922-1DFE3CC0EC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1830814"/>
                  </p:ext>
                </p:extLst>
              </p:nvPr>
            </p:nvGraphicFramePr>
            <p:xfrm>
              <a:off x="1433142" y="2930373"/>
              <a:ext cx="8969284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2321">
                      <a:extLst>
                        <a:ext uri="{9D8B030D-6E8A-4147-A177-3AD203B41FA5}">
                          <a16:colId xmlns:a16="http://schemas.microsoft.com/office/drawing/2014/main" val="639154206"/>
                        </a:ext>
                      </a:extLst>
                    </a:gridCol>
                    <a:gridCol w="2068440">
                      <a:extLst>
                        <a:ext uri="{9D8B030D-6E8A-4147-A177-3AD203B41FA5}">
                          <a16:colId xmlns:a16="http://schemas.microsoft.com/office/drawing/2014/main" val="3105875649"/>
                        </a:ext>
                      </a:extLst>
                    </a:gridCol>
                    <a:gridCol w="3001878">
                      <a:extLst>
                        <a:ext uri="{9D8B030D-6E8A-4147-A177-3AD203B41FA5}">
                          <a16:colId xmlns:a16="http://schemas.microsoft.com/office/drawing/2014/main" val="1460794178"/>
                        </a:ext>
                      </a:extLst>
                    </a:gridCol>
                    <a:gridCol w="1656645">
                      <a:extLst>
                        <a:ext uri="{9D8B030D-6E8A-4147-A177-3AD203B41FA5}">
                          <a16:colId xmlns:a16="http://schemas.microsoft.com/office/drawing/2014/main" val="359526578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Types of test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Two-tailed (more common)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One-tailed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Test statistic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448905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One-sample test</a:t>
                          </a:r>
                        </a:p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(a sample </a:t>
                          </a:r>
                          <a:r>
                            <a:rPr lang="en-US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v.s</a:t>
                          </a:r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 pop)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850" t="-72848" r="-226844" b="-86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3611" t="-72848" r="-55984" b="-86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t-score (z-score is a special case)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7755902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Two-sample test</a:t>
                          </a:r>
                        </a:p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(A/B test)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850" t="-226957" r="-226844" b="-1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3611" t="-226957" r="-55984" b="-1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t-score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42835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8158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 Black" panose="020B0A04020102020204" pitchFamily="34" charset="0"/>
              </a:rPr>
              <a:t>Quick Recap on Hypothesis Testing</a:t>
            </a:r>
            <a:endParaRPr lang="en-GB" altLang="en-US" dirty="0">
              <a:latin typeface="Arial Black" panose="020B0A04020102020204" pitchFamily="34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7994" y="1878264"/>
            <a:ext cx="9947686" cy="44015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i="1" u="sng" dirty="0">
                <a:latin typeface="Arial" panose="020B0604020202020204" pitchFamily="34" charset="0"/>
                <a:cs typeface="Arial" panose="020B0604020202020204" pitchFamily="34" charset="0"/>
              </a:rPr>
              <a:t>general</a:t>
            </a: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 procedure of all types of hypothesis testing </a:t>
            </a:r>
            <a:r>
              <a:rPr lang="en-GB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(by hand, or with R)</a:t>
            </a:r>
            <a:endParaRPr lang="en-GB" u="sng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Construct the null hypothesis (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 and the alternative hypothesis (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Get the test statistic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8358" lvl="1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Do it by hand: calculate the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Z-score or t-score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of the sample mean/proportion.</a:t>
            </a:r>
          </a:p>
          <a:p>
            <a:pPr marL="578358" lvl="1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Do it with R: look for the </a:t>
            </a:r>
            <a:r>
              <a:rPr lang="en-GB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Calibri" panose="020F0502020204030204" pitchFamily="34" charset="0"/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Make the comparison:</a:t>
            </a:r>
          </a:p>
          <a:p>
            <a:pPr marL="749808" lvl="1" indent="-45720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Do it by hand: compare calculated z-/t-scores to the critical value(s), e.g. [-1.96,1.96],  +/-1.65, +/-2.33, depending on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the confidence level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and whether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it’s one- or two-tailed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9808" lvl="1" indent="-45720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Do it with R: compare the p-value with the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alpha level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0.05 or 0.01. </a:t>
            </a:r>
          </a:p>
          <a:p>
            <a:pPr marL="457200" indent="-457200">
              <a:buFont typeface="Calibri" panose="020F0502020204030204" pitchFamily="34" charset="0"/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Make a decision based on 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comparison: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9808" lvl="1" indent="-4572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Test statistic falls outside of the critical value interval (falls in rejection region) </a:t>
            </a:r>
            <a:r>
              <a:rPr lang="en-GB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&lt; 0.05 (or 0.01): reject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9808" lvl="1" indent="-4572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Test statistic falls within the critical value interval </a:t>
            </a:r>
            <a:r>
              <a:rPr lang="en-GB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&gt;= 0.05 (or 0.01): fail to reject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728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0418" y="192947"/>
            <a:ext cx="9951132" cy="1437203"/>
          </a:xfrm>
        </p:spPr>
        <p:txBody>
          <a:bodyPr>
            <a:noAutofit/>
          </a:bodyPr>
          <a:lstStyle/>
          <a:p>
            <a:r>
              <a:rPr lang="en-GB" altLang="en-US" sz="4400" dirty="0">
                <a:latin typeface="Arial Black" panose="020B0A04020102020204" pitchFamily="34" charset="0"/>
                <a:cs typeface="Arial" panose="020B0604020202020204" pitchFamily="34" charset="0"/>
              </a:rPr>
              <a:t>Hypothesis Testing for Bivariate Association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0433" y="1882588"/>
            <a:ext cx="9951133" cy="46807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Can we use sample data to predict </a:t>
            </a:r>
            <a:r>
              <a:rPr lang="en-GB" alt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whether a bivariate categorical association exists on the population level? </a:t>
            </a:r>
          </a:p>
          <a:p>
            <a:pPr>
              <a:lnSpc>
                <a:spcPct val="90000"/>
              </a:lnSpc>
            </a:pPr>
            <a:endParaRPr lang="en-GB" altLang="en-US" sz="18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YES!</a:t>
            </a:r>
          </a:p>
          <a:p>
            <a:endParaRPr lang="en-GB" altLang="en-US" sz="18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To answer this question, we introduce a new type of </a:t>
            </a:r>
            <a:r>
              <a:rPr lang="en-GB" sz="1800" u="sng" dirty="0">
                <a:latin typeface="Arial" panose="020B0604020202020204" pitchFamily="34" charset="0"/>
                <a:cs typeface="Arial" panose="020B0604020202020204" pitchFamily="34" charset="0"/>
              </a:rPr>
              <a:t>hypothesis testing: </a:t>
            </a:r>
            <a:r>
              <a:rPr lang="en-GB" sz="2400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Chi-squared tests 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 bivariate categorical associations only).</a:t>
            </a:r>
            <a:endParaRPr lang="en-GB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GB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GB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GB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22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dirty="0">
                    <a:latin typeface="Arial Black" panose="020B0A04020102020204" pitchFamily="34" charset="0"/>
                  </a:rPr>
                  <a:t> </a:t>
                </a:r>
                <a:br>
                  <a:rPr lang="en-GB" dirty="0">
                    <a:latin typeface="Arial Black" panose="020B0A04020102020204" pitchFamily="34" charset="0"/>
                  </a:rPr>
                </a:br>
                <a:br>
                  <a:rPr lang="en-GB" dirty="0">
                    <a:latin typeface="Arial Black" panose="020B0A04020102020204" pitchFamily="34" charset="0"/>
                  </a:rPr>
                </a:br>
                <a:br>
                  <a:rPr lang="en-GB" dirty="0">
                    <a:latin typeface="Arial Black" panose="020B0A04020102020204" pitchFamily="34" charset="0"/>
                  </a:rPr>
                </a:br>
                <a:r>
                  <a:rPr lang="en-GB" dirty="0">
                    <a:latin typeface="Arial Black" panose="020B0A04020102020204" pitchFamily="34" charset="0"/>
                  </a:rPr>
                  <a:t>The Chi-Squared Test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>
                            <a:latin typeface="Arial Black" panose="020B0A0402010202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b="1" dirty="0">
                            <a:latin typeface="Arial Black" panose="020B0A04020102020204" pitchFamily="34" charset="0"/>
                            <a:cs typeface="Times New Roman" panose="02020603050405020304" pitchFamily="18" charset="0"/>
                          </a:rPr>
                          <m:t>χ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536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27" b="-22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4040" y="1839956"/>
            <a:ext cx="10058400" cy="4114800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Aft>
                <a:spcPts val="600"/>
              </a:spcAft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Chi-squared test is a technique of </a:t>
            </a:r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testing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which checks whether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an association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between two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categorical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variables observed in a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contingency table </a:t>
            </a: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based on a sample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also exists </a:t>
            </a: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in the population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80000"/>
              </a:lnSpc>
              <a:spcAft>
                <a:spcPts val="600"/>
              </a:spcAft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Formally, the chi-squared test is a test of whether the categorical variables in the table are independent of each other (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i.e., </a:t>
            </a:r>
            <a:r>
              <a:rPr lang="en-GB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unrelated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in the population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GB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chance of independence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is calculated as </a:t>
            </a:r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probability (p-value). </a:t>
            </a:r>
          </a:p>
          <a:p>
            <a:pPr marL="578358" lvl="1" indent="-28575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p-value &lt; 0.05 (or 0.01): the probability of independence is too low, and we conclude that the </a:t>
            </a:r>
            <a:r>
              <a:rPr lang="en-GB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variables are associated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 the population.</a:t>
            </a:r>
          </a:p>
          <a:p>
            <a:pPr marL="578358" lvl="1" indent="-28575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p-value &gt; 0.05 (or 0.01): the probability of independence is high enough, and we conclude that the </a:t>
            </a:r>
            <a:r>
              <a:rPr lang="en-GB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variables are independent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(not associated / not influence each other) in the population.  </a:t>
            </a:r>
          </a:p>
          <a:p>
            <a:pPr marL="0" indent="0">
              <a:lnSpc>
                <a:spcPct val="80000"/>
              </a:lnSpc>
              <a:buNone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1179444" y="536231"/>
                <a:ext cx="8229600" cy="1139825"/>
              </a:xfrm>
            </p:spPr>
            <p:txBody>
              <a:bodyPr>
                <a:normAutofit/>
              </a:bodyPr>
              <a:lstStyle/>
              <a:p>
                <a:r>
                  <a:rPr lang="en-GB" sz="3600" dirty="0">
                    <a:latin typeface="Arial Black" panose="020B0A04020102020204" pitchFamily="34" charset="0"/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sz="3600" dirty="0">
                            <a:latin typeface="Arial Black" panose="020B0A04020102020204" pitchFamily="34" charset="0"/>
                            <a:cs typeface="Times New Roman" panose="02020603050405020304" pitchFamily="18" charset="0"/>
                          </a:rPr>
                          <m:t>χ</m:t>
                        </m:r>
                      </m:e>
                      <m:sup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600" dirty="0">
                    <a:latin typeface="Arial Black" panose="020B0A04020102020204" pitchFamily="34" charset="0"/>
                  </a:rPr>
                  <a:t> Test: How does it work, in a nutshell</a:t>
                </a:r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79444" y="536231"/>
                <a:ext cx="8229600" cy="1139825"/>
              </a:xfrm>
              <a:blipFill>
                <a:blip r:embed="rId3"/>
                <a:stretch>
                  <a:fillRect l="-2222" t="-5348" b="-20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GB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Chi-squared test compares </a:t>
                </a:r>
                <a:r>
                  <a:rPr lang="en-GB" sz="18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the observed frequency in the contingency table </a:t>
                </a: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(based on the sample data) to </a:t>
                </a:r>
                <a:r>
                  <a:rPr lang="en-GB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“expected frequency” in a </a:t>
                </a:r>
                <a:r>
                  <a:rPr lang="en-GB" sz="18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hypothetical contingency table. </a:t>
                </a: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spcBef>
                    <a:spcPct val="0"/>
                  </a:spcBef>
                </a:pPr>
                <a:endParaRPr lang="en-GB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“expected frequency” are the values that </a:t>
                </a:r>
                <a:r>
                  <a:rPr lang="en-GB" sz="1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would have occurred </a:t>
                </a: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two variables were truly independent of each other (not associated).</a:t>
                </a:r>
              </a:p>
              <a:p>
                <a:pPr>
                  <a:spcBef>
                    <a:spcPct val="0"/>
                  </a:spcBef>
                </a:pPr>
                <a:endParaRPr lang="en-GB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We compare the observed to the expected values: </a:t>
                </a:r>
              </a:p>
              <a:p>
                <a:pPr lvl="1">
                  <a:spcBef>
                    <a:spcPct val="0"/>
                  </a:spcBef>
                </a:pPr>
                <a:r>
                  <a:rPr lang="en-GB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sz="1600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χ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test statistic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summarizes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the difference </a:t>
                </a:r>
                <a:r>
                  <a:rPr lang="en-GB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between the observed and the expected values. Therefore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sz="1600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χ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test statistic &gt;= 0 </a:t>
                </a:r>
                <a:r>
                  <a:rPr lang="en-GB" sz="16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(always positive).</a:t>
                </a:r>
              </a:p>
              <a:p>
                <a:pPr lvl="1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GB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When the difference is </a:t>
                </a:r>
                <a:r>
                  <a:rPr lang="en-GB" sz="1600" b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large enough</a:t>
                </a:r>
                <a:r>
                  <a:rPr lang="en-GB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we can conclude that there is a “real” association between the two variables in the population.</a:t>
                </a:r>
              </a:p>
              <a:p>
                <a:pPr marL="0" indent="0">
                  <a:buNone/>
                </a:pP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272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1179444" y="536231"/>
                <a:ext cx="7868083" cy="1139825"/>
              </a:xfrm>
            </p:spPr>
            <p:txBody>
              <a:bodyPr>
                <a:normAutofit/>
              </a:bodyPr>
              <a:lstStyle/>
              <a:p>
                <a:r>
                  <a:rPr lang="en-GB" sz="3600" dirty="0">
                    <a:latin typeface="Arial Black" panose="020B0A04020102020204" pitchFamily="34" charset="0"/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sz="3600" dirty="0">
                            <a:latin typeface="Arial Black" panose="020B0A04020102020204" pitchFamily="34" charset="0"/>
                            <a:cs typeface="Times New Roman" panose="02020603050405020304" pitchFamily="18" charset="0"/>
                          </a:rPr>
                          <m:t>χ</m:t>
                        </m:r>
                      </m:e>
                      <m:sup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600" dirty="0">
                    <a:latin typeface="Arial Black" panose="020B0A04020102020204" pitchFamily="34" charset="0"/>
                  </a:rPr>
                  <a:t> Test: How does it work, in a nutshell</a:t>
                </a:r>
              </a:p>
            </p:txBody>
          </p:sp>
        </mc:Choice>
        <mc:Fallback xmlns="">
          <p:sp>
            <p:nvSpPr>
              <p:cNvPr id="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79444" y="536231"/>
                <a:ext cx="7868083" cy="1139825"/>
              </a:xfrm>
              <a:blipFill>
                <a:blip r:embed="rId3"/>
                <a:stretch>
                  <a:fillRect l="-2324" t="-5348" r="-1782" b="-20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5BE5A44-9CEA-AA93-5FAE-50A81C3FFDDE}"/>
              </a:ext>
            </a:extLst>
          </p:cNvPr>
          <p:cNvSpPr txBox="1">
            <a:spLocks noChangeArrowheads="1"/>
          </p:cNvSpPr>
          <p:nvPr/>
        </p:nvSpPr>
        <p:spPr>
          <a:xfrm>
            <a:off x="4346713" y="2001078"/>
            <a:ext cx="6894443" cy="1187174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observed frequency of each cell, i.e., the table we made.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US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expected frequency of each cell, assuming no association.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E7C38956-8F68-3A46-09E9-E53822E7ABDD}"/>
                  </a:ext>
                </a:extLst>
              </p:cNvPr>
              <p:cNvSpPr txBox="1"/>
              <p:nvPr/>
            </p:nvSpPr>
            <p:spPr bwMode="auto">
              <a:xfrm>
                <a:off x="642800" y="1925533"/>
                <a:ext cx="3836435" cy="1338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𝑓𝑜</m:t>
                              </m:r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𝑓𝑒</m:t>
                              </m:r>
                              <m:sSup>
                                <m:sSupPr>
                                  <m:ctrlPr>
                                    <a:rPr lang="en-US" sz="3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𝑓𝑒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3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E7C38956-8F68-3A46-09E9-E53822E7A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800" y="1925533"/>
                <a:ext cx="3836435" cy="13382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C05DB365-1B96-CEA3-B53B-1689C639C7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183" y="3484870"/>
          <a:ext cx="3576432" cy="745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5000" imgH="393700" progId="Equation.3">
                  <p:embed/>
                </p:oleObj>
              </mc:Choice>
              <mc:Fallback>
                <p:oleObj name="Equation" r:id="rId5" imgW="1905000" imgH="393700" progId="Equation.3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C05DB365-1B96-CEA3-B53B-1689C639C7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183" y="3484870"/>
                        <a:ext cx="3576432" cy="745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31B44CB4-9666-F8E1-571B-18447C36A526}"/>
              </a:ext>
            </a:extLst>
          </p:cNvPr>
          <p:cNvSpPr txBox="1">
            <a:spLocks noChangeArrowheads="1"/>
          </p:cNvSpPr>
          <p:nvPr/>
        </p:nvSpPr>
        <p:spPr>
          <a:xfrm>
            <a:off x="689183" y="4902995"/>
            <a:ext cx="3962329" cy="11871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Degrees of Freedom (</a:t>
            </a:r>
            <a:r>
              <a:rPr lang="en-US" alt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(# of rows – 1) (# of columns – 1)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591302-8B95-0EE1-3242-A8F743EFB0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6319" y="2794486"/>
            <a:ext cx="5420135" cy="405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8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90603" y="1861760"/>
            <a:ext cx="10240614" cy="91297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Chi-squared test is a </a:t>
            </a:r>
            <a:r>
              <a:rPr lang="en-GB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GB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ne-tailed test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to see if the difference between the observed and the expected frequency is </a:t>
            </a:r>
            <a:r>
              <a:rPr lang="en-GB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large enough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(“greater than” a critical value):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4" descr="chi square Graphic">
            <a:extLst>
              <a:ext uri="{FF2B5EF4-FFF2-40B4-BE49-F238E27FC236}">
                <a16:creationId xmlns:a16="http://schemas.microsoft.com/office/drawing/2014/main" id="{9EA92ADD-F105-CEC4-2897-02782C44D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4990" y="2937051"/>
            <a:ext cx="6202020" cy="2792344"/>
          </a:xfrm>
          <a:prstGeom prst="rect">
            <a:avLst/>
          </a:prstGeom>
          <a:noFill/>
        </p:spPr>
      </p:pic>
      <p:sp>
        <p:nvSpPr>
          <p:cNvPr id="8" name="Line 7">
            <a:extLst>
              <a:ext uri="{FF2B5EF4-FFF2-40B4-BE49-F238E27FC236}">
                <a16:creationId xmlns:a16="http://schemas.microsoft.com/office/drawing/2014/main" id="{AA8D9F1B-7DC5-F48D-80B4-6BD4032A08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734" y="4518927"/>
            <a:ext cx="2653748" cy="1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5701C6B9-B152-6847-07DB-80EA1CDE7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4081" y="4096058"/>
            <a:ext cx="22390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Alpha  = 5% or 0.05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7A3CCE-BCE8-5C17-D4F4-BDF0399C31C1}"/>
              </a:ext>
            </a:extLst>
          </p:cNvPr>
          <p:cNvSpPr txBox="1"/>
          <p:nvPr/>
        </p:nvSpPr>
        <p:spPr>
          <a:xfrm>
            <a:off x="3361821" y="4384977"/>
            <a:ext cx="2239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95% confidence interval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08C403D-DFE4-F8E5-1D87-8CF5947592D1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1179444" y="536231"/>
                <a:ext cx="7868083" cy="1139825"/>
              </a:xfrm>
            </p:spPr>
            <p:txBody>
              <a:bodyPr>
                <a:normAutofit/>
              </a:bodyPr>
              <a:lstStyle/>
              <a:p>
                <a:r>
                  <a:rPr lang="en-GB" sz="3600" dirty="0">
                    <a:latin typeface="Arial Black" panose="020B0A04020102020204" pitchFamily="34" charset="0"/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sz="3600" dirty="0">
                            <a:latin typeface="Arial Black" panose="020B0A04020102020204" pitchFamily="34" charset="0"/>
                            <a:cs typeface="Times New Roman" panose="02020603050405020304" pitchFamily="18" charset="0"/>
                          </a:rPr>
                          <m:t>χ</m:t>
                        </m:r>
                      </m:e>
                      <m:sup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600" dirty="0">
                    <a:latin typeface="Arial Black" panose="020B0A04020102020204" pitchFamily="34" charset="0"/>
                  </a:rPr>
                  <a:t> Test: How does it work, in a nutshell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08C403D-DFE4-F8E5-1D87-8CF594759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79444" y="536231"/>
                <a:ext cx="7868083" cy="1139825"/>
              </a:xfrm>
              <a:blipFill>
                <a:blip r:embed="rId5"/>
                <a:stretch>
                  <a:fillRect l="-2324" t="-5348" r="-1782" b="-20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D8209A-EF55-1523-8BA9-3BF525585DD0}"/>
                  </a:ext>
                </a:extLst>
              </p:cNvPr>
              <p:cNvSpPr txBox="1"/>
              <p:nvPr/>
            </p:nvSpPr>
            <p:spPr>
              <a:xfrm>
                <a:off x="592620" y="5729395"/>
                <a:ext cx="10240613" cy="658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Once we calculate the </a:t>
                </a: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sz="1800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χ</m:t>
                        </m:r>
                      </m:e>
                      <m:sup>
                        <m:r>
                          <a:rPr lang="en-GB" sz="1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test statistic, we can compare it to the critical value found on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sz="1800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χ</m:t>
                        </m:r>
                      </m:e>
                      <m:sup>
                        <m:r>
                          <a:rPr lang="en-GB" sz="1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table.  </a:t>
                </a: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D8209A-EF55-1523-8BA9-3BF52558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20" y="5729395"/>
                <a:ext cx="10240613" cy="658770"/>
              </a:xfrm>
              <a:prstGeom prst="rect">
                <a:avLst/>
              </a:prstGeom>
              <a:blipFill>
                <a:blip r:embed="rId6"/>
                <a:stretch>
                  <a:fillRect t="-3704"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05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4 Steps of Chi-squared Tests, with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5826" y="1929066"/>
            <a:ext cx="10058400" cy="453072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(1) Construct Null Hypothesis (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 and Alternative Hypothesis (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15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: There </a:t>
            </a:r>
            <a:r>
              <a:rPr lang="en-GB" sz="1500" u="sng" dirty="0">
                <a:latin typeface="Arial" panose="020B0604020202020204" pitchFamily="34" charset="0"/>
                <a:cs typeface="Arial" panose="020B0604020202020204" pitchFamily="34" charset="0"/>
              </a:rPr>
              <a:t>is no relationship </a:t>
            </a: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between the two variables </a:t>
            </a:r>
            <a:r>
              <a:rPr lang="en-GB" sz="1500" u="sng" dirty="0">
                <a:latin typeface="Arial" panose="020B0604020202020204" pitchFamily="34" charset="0"/>
                <a:cs typeface="Arial" panose="020B0604020202020204" pitchFamily="34" charset="0"/>
              </a:rPr>
              <a:t>in the population</a:t>
            </a: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, i.e. they are independent.</a:t>
            </a:r>
          </a:p>
          <a:p>
            <a:pPr lvl="1" eaLnBrk="1" hangingPunct="1"/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15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: There </a:t>
            </a:r>
            <a:r>
              <a:rPr lang="en-GB" sz="1500" u="sng" dirty="0">
                <a:latin typeface="Arial" panose="020B0604020202020204" pitchFamily="34" charset="0"/>
                <a:cs typeface="Arial" panose="020B0604020202020204" pitchFamily="34" charset="0"/>
              </a:rPr>
              <a:t>is an association </a:t>
            </a: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between the two variables </a:t>
            </a:r>
            <a:r>
              <a:rPr lang="en-GB" sz="1500" u="sng" dirty="0">
                <a:latin typeface="Arial" panose="020B0604020202020204" pitchFamily="34" charset="0"/>
                <a:cs typeface="Arial" panose="020B0604020202020204" pitchFamily="34" charset="0"/>
              </a:rPr>
              <a:t>in the population</a:t>
            </a: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, i.e. they are </a:t>
            </a:r>
            <a:r>
              <a:rPr lang="en-GB" sz="1500" i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 independent.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(2) Get the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-value from the R output.</a:t>
            </a:r>
          </a:p>
          <a:p>
            <a:pPr lvl="1"/>
            <a:r>
              <a:rPr lang="en-US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-value in chi2 test = the probability of independence. </a:t>
            </a:r>
            <a:endParaRPr lang="en-US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(3) Compare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-value to the alpha level.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(4) Make a decision about whether to reject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based on the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-value.</a:t>
            </a:r>
          </a:p>
          <a:p>
            <a:pPr lvl="1"/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-value &lt; 0.05 (or 0.01): reject </a:t>
            </a:r>
            <a:r>
              <a:rPr lang="en-US" sz="1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conclude that the two variables are associated. </a:t>
            </a:r>
          </a:p>
          <a:p>
            <a:pPr lvl="1"/>
            <a:r>
              <a:rPr lang="en-US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-value &gt;= 0.05 (or 0.01): failed to reject H</a:t>
            </a:r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conclude that the two variables are independent. </a:t>
            </a:r>
          </a:p>
          <a:p>
            <a:pPr lvl="1"/>
            <a:endParaRPr lang="en-US" sz="2400" baseline="-25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1168" lvl="1" indent="0" algn="ctr">
              <a:buNone/>
            </a:pPr>
            <a:r>
              <a:rPr lang="en-US" sz="2400" baseline="-250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We will use R for chi-squared tests.</a:t>
            </a:r>
          </a:p>
        </p:txBody>
      </p:sp>
    </p:spTree>
    <p:extLst>
      <p:ext uri="{BB962C8B-B14F-4D97-AF65-F5344CB8AC3E}">
        <p14:creationId xmlns:p14="http://schemas.microsoft.com/office/powerpoint/2010/main" val="420850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>
                <a:latin typeface="Arial Black" panose="020B0A04020102020204" pitchFamily="34" charset="0"/>
              </a:rPr>
              <a:t>An </a:t>
            </a:r>
            <a:r>
              <a:rPr lang="en-GB" dirty="0">
                <a:latin typeface="Arial Black" panose="020B0A04020102020204" pitchFamily="34" charset="0"/>
              </a:rPr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 biological sex associated with the habit of doing housework? In other words, is there a sex difference in terms of whether people would like to do housework? 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Please test the association at the </a:t>
            </a: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0.05 significance level.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 = ?  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 = ? 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 row or col percentage?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ACFCC4-155A-43DC-856E-2C578F6470E7}" type="slidenum">
              <a:rPr lang="da-DK" altLang="en-US" smtClean="0"/>
              <a:pPr/>
              <a:t>33</a:t>
            </a:fld>
            <a:endParaRPr lang="da-DK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D0B41F-25F2-4631-44DF-A9DA7785BFC2}"/>
              </a:ext>
            </a:extLst>
          </p:cNvPr>
          <p:cNvGraphicFramePr>
            <a:graphicFrameLocks noGrp="1"/>
          </p:cNvGraphicFramePr>
          <p:nvPr/>
        </p:nvGraphicFramePr>
        <p:xfrm>
          <a:off x="2830501" y="3429000"/>
          <a:ext cx="6318964" cy="1080120"/>
        </p:xfrm>
        <a:graphic>
          <a:graphicData uri="http://schemas.openxmlformats.org/drawingml/2006/table">
            <a:tbl>
              <a:tblPr firstRow="1" firstCol="1" bandRow="1"/>
              <a:tblGrid>
                <a:gridCol w="1579741">
                  <a:extLst>
                    <a:ext uri="{9D8B030D-6E8A-4147-A177-3AD203B41FA5}">
                      <a16:colId xmlns:a16="http://schemas.microsoft.com/office/drawing/2014/main" val="282794729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5827273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589039992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0102490"/>
                    </a:ext>
                  </a:extLst>
                </a:gridCol>
              </a:tblGrid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728687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(yes)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 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696876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(no)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 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130 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695979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endParaRPr lang="en-GB" sz="16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9092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B319EB-9B51-6DF5-AAEC-3D5A04303E6A}"/>
              </a:ext>
            </a:extLst>
          </p:cNvPr>
          <p:cNvSpPr txBox="1"/>
          <p:nvPr/>
        </p:nvSpPr>
        <p:spPr>
          <a:xfrm>
            <a:off x="2941634" y="3059668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Contingency table of sex and housework</a:t>
            </a:r>
            <a:endParaRPr lang="en-US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192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46CA6-0B68-FFAF-5EDF-F78D1F90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First, analyze the contingency table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A0105-469F-0BB8-4301-52D1FEDB7A7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6963" y="1846263"/>
            <a:ext cx="10058400" cy="431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X = biological sex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Y = housework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(sex) is in the column, so we use column percentage.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Is there an association between biological sex and doing housework?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describe the association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Pattern: </a:t>
            </a: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Female is more likely to do housework.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 (roughly, by rule of thumb): </a:t>
            </a:r>
            <a:r>
              <a:rPr lang="en-US" altLang="en-US" sz="1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 - 20% = 30% difference </a:t>
            </a:r>
            <a:r>
              <a:rPr lang="en-US" altLang="en-US" sz="1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the strength is </a:t>
            </a:r>
            <a:r>
              <a:rPr lang="en-US" altLang="en-US" sz="1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moderate to strong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4C2A29-50BD-BDC9-3392-2FB1A9B4B2DD}"/>
              </a:ext>
            </a:extLst>
          </p:cNvPr>
          <p:cNvGraphicFramePr>
            <a:graphicFrameLocks noGrp="1"/>
          </p:cNvGraphicFramePr>
          <p:nvPr/>
        </p:nvGraphicFramePr>
        <p:xfrm>
          <a:off x="2830501" y="3429000"/>
          <a:ext cx="6318964" cy="1080120"/>
        </p:xfrm>
        <a:graphic>
          <a:graphicData uri="http://schemas.openxmlformats.org/drawingml/2006/table">
            <a:tbl>
              <a:tblPr firstRow="1" firstCol="1" bandRow="1"/>
              <a:tblGrid>
                <a:gridCol w="1579741">
                  <a:extLst>
                    <a:ext uri="{9D8B030D-6E8A-4147-A177-3AD203B41FA5}">
                      <a16:colId xmlns:a16="http://schemas.microsoft.com/office/drawing/2014/main" val="282794729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58272736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589039992"/>
                    </a:ext>
                  </a:extLst>
                </a:gridCol>
                <a:gridCol w="1579741">
                  <a:extLst>
                    <a:ext uri="{9D8B030D-6E8A-4147-A177-3AD203B41FA5}">
                      <a16:colId xmlns:a16="http://schemas.microsoft.com/office/drawing/2014/main" val="240102490"/>
                    </a:ext>
                  </a:extLst>
                </a:gridCol>
              </a:tblGrid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728687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(yes)</a:t>
                      </a:r>
                      <a:endParaRPr lang="en-GB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(50%)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(35%)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696876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Housework (no)</a:t>
                      </a:r>
                      <a:endParaRPr lang="en-GB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(80%)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(50%)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(65%)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695979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(100%)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(100%)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 </a:t>
                      </a: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(100%)</a:t>
                      </a:r>
                      <a:endParaRPr lang="en-GB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9092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EBDDE8-7497-D9C4-24FC-91E4669510DC}"/>
              </a:ext>
            </a:extLst>
          </p:cNvPr>
          <p:cNvSpPr txBox="1"/>
          <p:nvPr/>
        </p:nvSpPr>
        <p:spPr>
          <a:xfrm>
            <a:off x="2941634" y="3059668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Contingency table of sex and housework</a:t>
            </a:r>
            <a:endParaRPr lang="en-US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34">
            <a:extLst>
              <a:ext uri="{FF2B5EF4-FFF2-40B4-BE49-F238E27FC236}">
                <a16:creationId xmlns:a16="http://schemas.microsoft.com/office/drawing/2014/main" id="{6D42F861-F24A-6A6C-BAB9-5F474A8FB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1117" y="3314459"/>
            <a:ext cx="1047503" cy="134815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" name="Oval 34">
            <a:extLst>
              <a:ext uri="{FF2B5EF4-FFF2-40B4-BE49-F238E27FC236}">
                <a16:creationId xmlns:a16="http://schemas.microsoft.com/office/drawing/2014/main" id="{469A8DEA-4706-24F1-1F6A-9D8318FAD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575" y="3275510"/>
            <a:ext cx="923487" cy="13871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44493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Arial Black" panose="020B0A04020102020204" pitchFamily="34" charset="0"/>
              </a:rPr>
              <a:t>Then, use R for a chi-squared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1580" y="1925354"/>
            <a:ext cx="10058400" cy="4570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chisq.test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df$housework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df$sex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 correct=FALSE)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Pearson's Chi-squared test </a:t>
            </a:r>
          </a:p>
          <a:p>
            <a:pPr marL="0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df$housework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df$sex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X-squared = 19.78,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E48312"/>
                </a:highlight>
                <a:latin typeface="Consolas" panose="020B0609020204030204" pitchFamily="49" charset="0"/>
              </a:rPr>
              <a:t>p-value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8.688e-06</a:t>
            </a:r>
            <a:endParaRPr lang="en-GB" dirty="0"/>
          </a:p>
          <a:p>
            <a:pPr marL="0" indent="0">
              <a:buNone/>
            </a:pP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that R does </a:t>
            </a:r>
            <a:r>
              <a:rPr lang="en-GB" sz="18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GB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H0 and H1 for chi-squared test. </a:t>
            </a:r>
            <a:r>
              <a:rPr lang="en-GB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It’s your responsibility.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1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is 8.688e-06</a:t>
            </a:r>
          </a:p>
          <a:p>
            <a:pPr marL="0" indent="0">
              <a:buNone/>
            </a:pPr>
            <a:endParaRPr lang="en-GB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to interpret? </a:t>
            </a: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ACFCC4-155A-43DC-856E-2C578F6470E7}" type="slidenum">
              <a:rPr lang="da-DK" altLang="en-US" smtClean="0"/>
              <a:pPr/>
              <a:t>35</a:t>
            </a:fld>
            <a:endParaRPr lang="da-DK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A22712-5CCC-4B59-F129-3ED98BD9A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9350"/>
            <a:ext cx="64120" cy="138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90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46CA6-0B68-FFAF-5EDF-F78D1F90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Together, the 4 steps of hypothesis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A0105-469F-0BB8-4301-52D1FEDB7A7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6963" y="1846263"/>
            <a:ext cx="10058400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(1) Construct Null Hypothesis (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 and Alternative Hypothesis (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: There </a:t>
            </a:r>
            <a:r>
              <a:rPr lang="en-GB" sz="1400" u="sng" dirty="0">
                <a:latin typeface="Arial" panose="020B0604020202020204" pitchFamily="34" charset="0"/>
                <a:cs typeface="Arial" panose="020B0604020202020204" pitchFamily="34" charset="0"/>
              </a:rPr>
              <a:t>is no relationship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between sex and the habit of doing housework </a:t>
            </a:r>
            <a:r>
              <a:rPr lang="en-GB" sz="1400" u="sng" dirty="0">
                <a:latin typeface="Arial" panose="020B0604020202020204" pitchFamily="34" charset="0"/>
                <a:cs typeface="Arial" panose="020B0604020202020204" pitchFamily="34" charset="0"/>
              </a:rPr>
              <a:t>in the population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i.e. they are independent.</a:t>
            </a:r>
          </a:p>
          <a:p>
            <a:pPr lvl="1" eaLnBrk="1" hangingPunct="1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: There </a:t>
            </a:r>
            <a:r>
              <a:rPr lang="en-GB" sz="1400" u="sng" dirty="0">
                <a:latin typeface="Arial" panose="020B0604020202020204" pitchFamily="34" charset="0"/>
                <a:cs typeface="Arial" panose="020B0604020202020204" pitchFamily="34" charset="0"/>
              </a:rPr>
              <a:t>is an association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between sex and the habit of doing housework </a:t>
            </a:r>
            <a:r>
              <a:rPr lang="en-GB" sz="1400" u="sng" dirty="0">
                <a:latin typeface="Arial" panose="020B0604020202020204" pitchFamily="34" charset="0"/>
                <a:cs typeface="Arial" panose="020B0604020202020204" pitchFamily="34" charset="0"/>
              </a:rPr>
              <a:t>in the population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i.e. they are </a:t>
            </a: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independent.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(2) Get the p-value from R outputs. 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p-value = </a:t>
            </a:r>
            <a:r>
              <a:rPr lang="en-GB" sz="1800" u="sng" dirty="0">
                <a:latin typeface="Arial" panose="020B0604020202020204" pitchFamily="34" charset="0"/>
                <a:cs typeface="Arial" panose="020B0604020202020204" pitchFamily="34" charset="0"/>
              </a:rPr>
              <a:t>0.000008688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(3) Compare p-value to the alpha level of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0.05. </a:t>
            </a:r>
          </a:p>
          <a:p>
            <a:pPr marL="201168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0.00008688 &lt;&lt; 0.05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(4) Make a decision about whether to reject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based on the p-value.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 &lt; 0.05: reject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Based on the p-value (0.0000087), we </a:t>
            </a:r>
            <a:r>
              <a:rPr lang="en-US" alt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reject H</a:t>
            </a:r>
            <a:r>
              <a:rPr lang="en-US" altLang="en-US" sz="1100" b="1" u="sng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and conclude that there is a statistically significant association between sex and the habit of doing housework </a:t>
            </a:r>
            <a:r>
              <a:rPr lang="en-US" alt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in the population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6207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6414" y="1827846"/>
            <a:ext cx="10058400" cy="4343400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Our sample suggests that there </a:t>
            </a:r>
            <a:r>
              <a:rPr lang="en-US" alt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an association between sex and the habit of doing housework:</a:t>
            </a:r>
          </a:p>
          <a:p>
            <a:pPr marL="609600" indent="-609600"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Pattern: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Females are more likely to do housework than males.</a:t>
            </a:r>
          </a:p>
          <a:p>
            <a:pPr marL="609600" indent="-609600">
              <a:buFontTx/>
              <a:buAutoNum type="arabicPeriod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Strength: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strength of the association is moderate to strong.</a:t>
            </a:r>
          </a:p>
          <a:p>
            <a:pPr marL="609600" indent="-609600"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Significance: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 Chi-squared test shows that the association is </a:t>
            </a:r>
            <a:r>
              <a:rPr lang="en-US" altLang="en-US" u="sng" dirty="0">
                <a:latin typeface="Arial" panose="020B0604020202020204" pitchFamily="34" charset="0"/>
                <a:cs typeface="Arial" panose="020B0604020202020204" pitchFamily="34" charset="0"/>
              </a:rPr>
              <a:t>statistically significant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 the population. 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1517056" y="5115539"/>
            <a:ext cx="7505700" cy="36933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Chi-square Test: P-value &lt; 0.05, Rejected Null Hypothesis</a:t>
            </a:r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1517056" y="3021748"/>
            <a:ext cx="7505700" cy="36933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Compare Percentages: 20% Males </a:t>
            </a:r>
            <a:r>
              <a:rPr lang="en-US" altLang="en-US" sz="1800" dirty="0" err="1"/>
              <a:t>v.s</a:t>
            </a:r>
            <a:r>
              <a:rPr lang="en-US" altLang="en-US" sz="1800" dirty="0"/>
              <a:t>. 50% of Females did housework</a:t>
            </a:r>
          </a:p>
        </p:txBody>
      </p:sp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1517056" y="3927287"/>
            <a:ext cx="7505700" cy="3667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Size of Difference between Percentages = 30% points</a:t>
            </a:r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7772400" y="2590801"/>
            <a:ext cx="144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FD3C49-B226-75BC-8135-C44B926E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Interpret the three measures of the association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7052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uiExpand="1" build="p"/>
      <p:bldP spid="58373" grpId="0" uiExpand="1" animBg="1"/>
      <p:bldP spid="58374" grpId="0" uiExpand="1" animBg="1"/>
      <p:bldP spid="5837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43B1-52CF-6FB0-3E63-3C8E6407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Finally, write a summary</a:t>
            </a:r>
          </a:p>
        </p:txBody>
      </p:sp>
      <p:sp>
        <p:nvSpPr>
          <p:cNvPr id="58372" name="Text Box 4"/>
          <p:cNvSpPr txBox="1">
            <a:spLocks noGrp="1" noChangeArrowheads="1"/>
          </p:cNvSpPr>
          <p:nvPr>
            <p:ph idx="1"/>
          </p:nvPr>
        </p:nvSpPr>
        <p:spPr bwMode="auto">
          <a:xfrm>
            <a:off x="1096963" y="1846263"/>
            <a:ext cx="10058400" cy="2605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indent="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rgbClr val="C00000"/>
                </a:solidFill>
              </a:rPr>
              <a:t>Template: strength + pattern + significance</a:t>
            </a:r>
          </a:p>
          <a:p>
            <a:pPr indent="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pPr indent="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</a:rPr>
              <a:t>Our </a:t>
            </a:r>
            <a:r>
              <a:rPr lang="en-US" altLang="en-US" sz="2000" b="1" u="sng" dirty="0">
                <a:solidFill>
                  <a:schemeClr val="accent2"/>
                </a:solidFill>
              </a:rPr>
              <a:t>sample data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</a:rPr>
              <a:t>indicates that there is a </a:t>
            </a:r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</a:rPr>
              <a:t>moderate to strong association </a:t>
            </a:r>
            <a:r>
              <a:rPr lang="en-US" altLang="en-US" sz="2000" b="1" dirty="0">
                <a:solidFill>
                  <a:srgbClr val="C00000"/>
                </a:solidFill>
              </a:rPr>
              <a:t>[strength]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</a:rPr>
              <a:t>between sex and the habit of doing housework. </a:t>
            </a:r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</a:rPr>
              <a:t>Particularly, females are more likely to do housework than males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</a:rPr>
              <a:t>[pattern]</a:t>
            </a:r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</a:rPr>
              <a:t>. A chi-squared test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</a:rPr>
              <a:t> shows that this association is statistically significant </a:t>
            </a:r>
            <a:r>
              <a:rPr lang="en-US" altLang="en-US" sz="2000" b="1" u="sng" dirty="0">
                <a:solidFill>
                  <a:schemeClr val="accent2"/>
                </a:solidFill>
              </a:rPr>
              <a:t>in the population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</a:rPr>
              <a:t>at the </a:t>
            </a:r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</a:rPr>
              <a:t>0.05 significance level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</a:rPr>
              <a:t>, with a </a:t>
            </a:r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</a:rPr>
              <a:t>p-value of </a:t>
            </a:r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0.0000087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</a:rPr>
              <a:t>[significance]</a:t>
            </a:r>
            <a:r>
              <a:rPr lang="en-US" altLang="en-US" sz="2000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6672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9339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401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09540"/>
              </p:ext>
            </p:extLst>
          </p:nvPr>
        </p:nvGraphicFramePr>
        <p:xfrm>
          <a:off x="2096795" y="2319577"/>
          <a:ext cx="8408504" cy="3304008"/>
        </p:xfrm>
        <a:graphic>
          <a:graphicData uri="http://schemas.openxmlformats.org/drawingml/2006/table">
            <a:tbl>
              <a:tblPr/>
              <a:tblGrid>
                <a:gridCol w="197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6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0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Monotype Sorts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</a:pPr>
                      <a:r>
                        <a:rPr kumimoji="1" lang="en-GB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Association between two variables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Monotype Sorts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  <a:defRPr/>
                      </a:pPr>
                      <a:r>
                        <a:rPr kumimoji="1" lang="en-GB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Direction/pattern of the association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</a:pPr>
                      <a:endParaRPr kumimoji="1" lang="en-GB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Monotype Sorts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</a:pPr>
                      <a:r>
                        <a:rPr kumimoji="1" lang="en-GB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Strength of the association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Monotype Sorts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</a:pPr>
                      <a:r>
                        <a:rPr kumimoji="1" lang="en-GB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Significance of the association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Monotype Sorts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</a:pPr>
                      <a:r>
                        <a:rPr kumimoji="1" lang="en-GB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Two categorical variables </a:t>
                      </a:r>
                      <a:endParaRPr kumimoji="1" lang="en-GB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Monotype Sorts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</a:pPr>
                      <a: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Contingency table </a:t>
                      </a:r>
                      <a:b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b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 which one is X and which is Y?</a:t>
                      </a:r>
                      <a:b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 Calculate row or col percentage along X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</a:pPr>
                      <a: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 Compare % point  difference across X categories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Monotype Sorts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  <a:defRPr/>
                      </a:pPr>
                      <a: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Roughly: % point difference</a:t>
                      </a:r>
                      <a:b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</a:br>
                      <a:b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</a:br>
                      <a: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Precisely: Odds ratio,  relative risks, etc (advanced stats course)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</a:pPr>
                      <a:endParaRPr kumimoji="1" lang="en-GB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Monotype Sorts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</a:pPr>
                      <a: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Chi-squared test</a:t>
                      </a:r>
                      <a:endParaRPr kumimoji="1" lang="en-GB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/>
                        <a:buNone/>
                        <a:tabLst/>
                      </a:pPr>
                      <a:b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 p-value &gt;= 0.05: no association</a:t>
                      </a:r>
                      <a:b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b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1" lang="en-GB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 p-value &lt; 0.05: significant association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Recap: Bivariate Categorical Analysis</a:t>
            </a:r>
          </a:p>
        </p:txBody>
      </p:sp>
    </p:spTree>
    <p:extLst>
      <p:ext uri="{BB962C8B-B14F-4D97-AF65-F5344CB8AC3E}">
        <p14:creationId xmlns:p14="http://schemas.microsoft.com/office/powerpoint/2010/main" val="27672647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F399-EC84-4345-B9DE-C773337E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Assignment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31632-8034-45BD-9543-15F69FD84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BrightSpace</a:t>
            </a:r>
            <a:r>
              <a:rPr lang="en-US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Assignment “HW9”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3A1F90-FFDA-4E62-A42A-7BFFC78F37A0}"/>
              </a:ext>
            </a:extLst>
          </p:cNvPr>
          <p:cNvSpPr txBox="1"/>
          <p:nvPr/>
        </p:nvSpPr>
        <p:spPr>
          <a:xfrm>
            <a:off x="1097280" y="2345680"/>
            <a:ext cx="10938251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-    5 points total. </a:t>
            </a:r>
          </a:p>
          <a:p>
            <a:pPr marL="342900" indent="-342900">
              <a:buFontTx/>
              <a:buChar char="-"/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Deadline</a:t>
            </a:r>
            <a:r>
              <a:rPr lang="en-US">
                <a:solidFill>
                  <a:srgbClr val="0070C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 </a:t>
            </a:r>
            <a:r>
              <a:rPr lang="en-US" b="1">
                <a:solidFill>
                  <a:srgbClr val="0070C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May </a:t>
            </a:r>
            <a:r>
              <a:rPr lang="en-US" altLang="zh-CN" b="1">
                <a:solidFill>
                  <a:srgbClr val="0070C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3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Sunday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11:59 pm </a:t>
            </a:r>
          </a:p>
          <a:p>
            <a:pPr marL="342900" indent="-342900">
              <a:buFontTx/>
              <a:buChar char="-"/>
            </a:pPr>
            <a:r>
              <a:rPr lang="en-US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Submit to </a:t>
            </a:r>
            <a:r>
              <a:rPr lang="en-US" b="1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BrightSpace</a:t>
            </a:r>
            <a:r>
              <a:rPr lang="en-US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Email submissions not accepted. </a:t>
            </a:r>
            <a:endParaRPr lang="en-US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0070C0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6786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6115</TotalTime>
  <Words>3631</Words>
  <Application>Microsoft Office PowerPoint</Application>
  <PresentationFormat>Widescreen</PresentationFormat>
  <Paragraphs>465</Paragraphs>
  <Slides>41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5" baseType="lpstr">
      <vt:lpstr>Monotype Sorts</vt:lpstr>
      <vt:lpstr>Arial</vt:lpstr>
      <vt:lpstr>Arial Black</vt:lpstr>
      <vt:lpstr>Calibri</vt:lpstr>
      <vt:lpstr>Calibri Light</vt:lpstr>
      <vt:lpstr>Cambria</vt:lpstr>
      <vt:lpstr>Cambria Math</vt:lpstr>
      <vt:lpstr>Consolas</vt:lpstr>
      <vt:lpstr>Courier New</vt:lpstr>
      <vt:lpstr>Symbol</vt:lpstr>
      <vt:lpstr>Times New Roman</vt:lpstr>
      <vt:lpstr>Retrospect</vt:lpstr>
      <vt:lpstr>Acrobat Document</vt:lpstr>
      <vt:lpstr>Equation</vt:lpstr>
      <vt:lpstr>Data 205 Lecture 12  Measuring Association with Categorical Variables</vt:lpstr>
      <vt:lpstr>Today’s Content</vt:lpstr>
      <vt:lpstr>PowerPoint Presentation</vt:lpstr>
      <vt:lpstr>PowerPoint Presentation</vt:lpstr>
      <vt:lpstr>Recap</vt:lpstr>
      <vt:lpstr>Getting started with bivariate analysis</vt:lpstr>
      <vt:lpstr>A quick review of independent (X) and dependent (Y) variables</vt:lpstr>
      <vt:lpstr>What is association?</vt:lpstr>
      <vt:lpstr>Association ≠ Causation</vt:lpstr>
      <vt:lpstr>Logic of Causal Order</vt:lpstr>
      <vt:lpstr>Association v.s. Correlation</vt:lpstr>
      <vt:lpstr>PowerPoint Presentation</vt:lpstr>
      <vt:lpstr>Three Measures of Association</vt:lpstr>
      <vt:lpstr>Bivariate Analysis of Categorical Data </vt:lpstr>
      <vt:lpstr>1. Direction/Pattern of the Association</vt:lpstr>
      <vt:lpstr>Column and row percentages</vt:lpstr>
      <vt:lpstr>Column and row percentages</vt:lpstr>
      <vt:lpstr>Which way is better?</vt:lpstr>
      <vt:lpstr>How to analyze a contingency table?</vt:lpstr>
      <vt:lpstr>How to interpret the results?</vt:lpstr>
      <vt:lpstr>The same rules apply to contingency tables with more categories/ordinal variables</vt:lpstr>
      <vt:lpstr>PowerPoint Presentation</vt:lpstr>
      <vt:lpstr>2. The (Precise) Strength of The Association</vt:lpstr>
      <vt:lpstr>3. The Significance of The Association</vt:lpstr>
      <vt:lpstr>Quick Recap on Hypothesis Testing</vt:lpstr>
      <vt:lpstr>Quick Recap on Hypothesis Testing</vt:lpstr>
      <vt:lpstr>Hypothesis Testing for Bivariate Association</vt:lpstr>
      <vt:lpstr>    The Chi-Squared Test 〖"(χ" 〗^2)</vt:lpstr>
      <vt:lpstr>The "χ" ^2 Test: How does it work, in a nutshell</vt:lpstr>
      <vt:lpstr>The "χ" ^2 Test: How does it work, in a nutshell</vt:lpstr>
      <vt:lpstr>The "χ" ^2 Test: How does it work, in a nutshell</vt:lpstr>
      <vt:lpstr>4 Steps of Chi-squared Tests, with R</vt:lpstr>
      <vt:lpstr>An example </vt:lpstr>
      <vt:lpstr>First, analyze the contingency table</vt:lpstr>
      <vt:lpstr>Then, use R for a chi-squared test</vt:lpstr>
      <vt:lpstr>Together, the 4 steps of hypothesis testing</vt:lpstr>
      <vt:lpstr>Interpret the three measures of the association</vt:lpstr>
      <vt:lpstr>Finally, write a summary</vt:lpstr>
      <vt:lpstr>PowerPoint Presentation</vt:lpstr>
      <vt:lpstr>Recap: Bivariate Categorical Analysis</vt:lpstr>
      <vt:lpstr>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 Data 765</dc:title>
  <dc:creator>Yinxian Zhang</dc:creator>
  <cp:lastModifiedBy>Yinxian Zhang</cp:lastModifiedBy>
  <cp:revision>18</cp:revision>
  <dcterms:created xsi:type="dcterms:W3CDTF">2021-02-03T04:56:58Z</dcterms:created>
  <dcterms:modified xsi:type="dcterms:W3CDTF">2026-04-28T20:44:02Z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a1855b2-0a05-4494-a903-f3f23f3f98e0_Enabled">
    <vt:lpwstr>true</vt:lpwstr>
  </property>
  <property fmtid="{D5CDD505-2E9C-101B-9397-08002B2CF9AE}" pid="3" name="MSIP_Label_fa1855b2-0a05-4494-a903-f3f23f3f98e0_SetDate">
    <vt:lpwstr>2022-08-24T21:41:29Z</vt:lpwstr>
  </property>
  <property fmtid="{D5CDD505-2E9C-101B-9397-08002B2CF9AE}" pid="4" name="MSIP_Label_fa1855b2-0a05-4494-a903-f3f23f3f98e0_Method">
    <vt:lpwstr>Standard</vt:lpwstr>
  </property>
  <property fmtid="{D5CDD505-2E9C-101B-9397-08002B2CF9AE}" pid="5" name="MSIP_Label_fa1855b2-0a05-4494-a903-f3f23f3f98e0_Name">
    <vt:lpwstr>defa4170-0d19-0005-0004-bc88714345d2</vt:lpwstr>
  </property>
  <property fmtid="{D5CDD505-2E9C-101B-9397-08002B2CF9AE}" pid="6" name="MSIP_Label_fa1855b2-0a05-4494-a903-f3f23f3f98e0_SiteId">
    <vt:lpwstr>6f60f0b3-5f06-4e09-9715-989dba8cc7d8</vt:lpwstr>
  </property>
  <property fmtid="{D5CDD505-2E9C-101B-9397-08002B2CF9AE}" pid="7" name="MSIP_Label_fa1855b2-0a05-4494-a903-f3f23f3f98e0_ActionId">
    <vt:lpwstr>e268cf34-758b-4cd9-9f6f-84b11f8b3068</vt:lpwstr>
  </property>
  <property fmtid="{D5CDD505-2E9C-101B-9397-08002B2CF9AE}" pid="8" name="MSIP_Label_fa1855b2-0a05-4494-a903-f3f23f3f98e0_ContentBits">
    <vt:lpwstr>0</vt:lpwstr>
  </property>
</Properties>
</file>